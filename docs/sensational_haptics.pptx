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0D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0"/>
            <a:ext cx="11247120" cy="1280160"/>
          </a:xfrm>
          <a:prstGeom prst="rect">
            <a:avLst/>
          </a:prstGeom>
          <a:noFill/>
        </p:spPr>
        <p:txBody>
          <a:bodyPr wrap="square">
            <a:spAutoFit/>
          </a:bodyPr>
          <a:lstStyle/>
          <a:p>
            <a:pPr algn="ctr"/>
            <a:r>
              <a:rPr sz="5200" b="1" i="0">
                <a:solidFill>
                  <a:srgbClr val="00E5FF"/>
                </a:solidFill>
              </a:rPr>
              <a:t>SENSATIONAL HAPTICS</a:t>
            </a:r>
          </a:p>
        </p:txBody>
      </p:sp>
      <p:sp>
        <p:nvSpPr>
          <p:cNvPr id="4" name="TextBox 3"/>
          <p:cNvSpPr txBox="1"/>
          <p:nvPr/>
        </p:nvSpPr>
        <p:spPr>
          <a:xfrm>
            <a:off x="457200" y="2834640"/>
            <a:ext cx="11247120" cy="640080"/>
          </a:xfrm>
          <a:prstGeom prst="rect">
            <a:avLst/>
          </a:prstGeom>
          <a:noFill/>
        </p:spPr>
        <p:txBody>
          <a:bodyPr wrap="square">
            <a:spAutoFit/>
          </a:bodyPr>
          <a:lstStyle/>
          <a:p>
            <a:pPr algn="ctr"/>
            <a:r>
              <a:rPr sz="2200" b="0" i="0">
                <a:solidFill>
                  <a:srgbClr val="AAAAAA"/>
                </a:solidFill>
              </a:rPr>
              <a:t>Feel Every Virtual World</a:t>
            </a:r>
          </a:p>
        </p:txBody>
      </p:sp>
      <p:sp>
        <p:nvSpPr>
          <p:cNvPr id="5" name="Rectangle 4"/>
          <p:cNvSpPr/>
          <p:nvPr/>
        </p:nvSpPr>
        <p:spPr>
          <a:xfrm>
            <a:off x="4114800" y="3520440"/>
            <a:ext cx="3931920" cy="31750"/>
          </a:xfrm>
          <a:prstGeom prst="rect">
            <a:avLst/>
          </a:prstGeom>
          <a:solidFill>
            <a:srgbClr val="7C4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3749039"/>
            <a:ext cx="9418320" cy="822960"/>
          </a:xfrm>
          <a:prstGeom prst="rect">
            <a:avLst/>
          </a:prstGeom>
          <a:noFill/>
        </p:spPr>
        <p:txBody>
          <a:bodyPr wrap="square">
            <a:spAutoFit/>
          </a:bodyPr>
          <a:lstStyle/>
          <a:p>
            <a:pPr algn="ctr"/>
            <a:r>
              <a:rPr sz="1300" b="0" i="0">
                <a:solidFill>
                  <a:srgbClr val="AAAAAA"/>
                </a:solidFill>
              </a:rPr>
              <a:t>Open-source VR haptic gloves that bring real touch to virtual reality
— cross-platform, community-driven, and accessible to all.</a:t>
            </a:r>
          </a:p>
        </p:txBody>
      </p:sp>
      <p:sp>
        <p:nvSpPr>
          <p:cNvPr id="7" name="TextBox 6"/>
          <p:cNvSpPr txBox="1"/>
          <p:nvPr/>
        </p:nvSpPr>
        <p:spPr>
          <a:xfrm>
            <a:off x="457200" y="5669280"/>
            <a:ext cx="11247120" cy="457200"/>
          </a:xfrm>
          <a:prstGeom prst="rect">
            <a:avLst/>
          </a:prstGeom>
          <a:noFill/>
        </p:spPr>
        <p:txBody>
          <a:bodyPr wrap="square">
            <a:spAutoFit/>
          </a:bodyPr>
          <a:lstStyle/>
          <a:p>
            <a:pPr algn="ctr"/>
            <a:r>
              <a:rPr sz="1200" b="0" i="0">
                <a:solidFill>
                  <a:srgbClr val="444444"/>
                </a:solidFill>
              </a:rPr>
              <a:t>Presented by   Strong Baker  ·  Jeremy Lakey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0D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731520"/>
          </a:xfrm>
          <a:prstGeom prst="rect">
            <a:avLst/>
          </a:prstGeom>
          <a:noFill/>
        </p:spPr>
        <p:txBody>
          <a:bodyPr wrap="square">
            <a:spAutoFit/>
          </a:bodyPr>
          <a:lstStyle/>
          <a:p>
            <a:pPr algn="l"/>
            <a:r>
              <a:rPr sz="3200" b="1" i="0">
                <a:solidFill>
                  <a:srgbClr val="00E5FF"/>
                </a:solidFill>
              </a:rPr>
              <a:t>The Name</a:t>
            </a:r>
          </a:p>
        </p:txBody>
      </p:sp>
      <p:sp>
        <p:nvSpPr>
          <p:cNvPr id="4" name="Rectangle 3"/>
          <p:cNvSpPr/>
          <p:nvPr/>
        </p:nvSpPr>
        <p:spPr>
          <a:xfrm>
            <a:off x="548640" y="1097280"/>
            <a:ext cx="1097280" cy="38100"/>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645920" y="1097280"/>
            <a:ext cx="1097280" cy="38100"/>
          </a:xfrm>
          <a:prstGeom prst="rect">
            <a:avLst/>
          </a:prstGeom>
          <a:solidFill>
            <a:srgbClr val="7C4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88720"/>
            <a:ext cx="10972800" cy="411480"/>
          </a:xfrm>
          <a:prstGeom prst="rect">
            <a:avLst/>
          </a:prstGeom>
          <a:noFill/>
        </p:spPr>
        <p:txBody>
          <a:bodyPr wrap="square">
            <a:spAutoFit/>
          </a:bodyPr>
          <a:lstStyle/>
          <a:p>
            <a:pPr algn="l"/>
            <a:r>
              <a:rPr sz="1200" b="0" i="0">
                <a:solidFill>
                  <a:srgbClr val="AAAAAA"/>
                </a:solidFill>
              </a:rPr>
              <a:t>Why 'Sensational Haptics'?</a:t>
            </a:r>
          </a:p>
        </p:txBody>
      </p:sp>
      <p:sp>
        <p:nvSpPr>
          <p:cNvPr id="7" name="Rectangle 6"/>
          <p:cNvSpPr/>
          <p:nvPr/>
        </p:nvSpPr>
        <p:spPr>
          <a:xfrm>
            <a:off x="457200" y="1417320"/>
            <a:ext cx="5394960" cy="1828800"/>
          </a:xfrm>
          <a:prstGeom prst="rect">
            <a:avLst/>
          </a:prstGeom>
          <a:solidFill>
            <a:srgbClr val="1A1A3A"/>
          </a:solidFill>
          <a:ln w="9525">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508760"/>
            <a:ext cx="5175504" cy="320040"/>
          </a:xfrm>
          <a:prstGeom prst="rect">
            <a:avLst/>
          </a:prstGeom>
          <a:noFill/>
        </p:spPr>
        <p:txBody>
          <a:bodyPr wrap="square">
            <a:spAutoFit/>
          </a:bodyPr>
          <a:lstStyle/>
          <a:p>
            <a:pPr algn="l"/>
            <a:r>
              <a:rPr sz="1000" b="1" i="0">
                <a:solidFill>
                  <a:srgbClr val="00E5FF"/>
                </a:solidFill>
              </a:rPr>
              <a:t>🧠  "Sensational"</a:t>
            </a:r>
          </a:p>
        </p:txBody>
      </p:sp>
      <p:sp>
        <p:nvSpPr>
          <p:cNvPr id="9" name="TextBox 8"/>
          <p:cNvSpPr txBox="1"/>
          <p:nvPr/>
        </p:nvSpPr>
        <p:spPr>
          <a:xfrm>
            <a:off x="566928" y="1801368"/>
            <a:ext cx="5175504" cy="1353312"/>
          </a:xfrm>
          <a:prstGeom prst="rect">
            <a:avLst/>
          </a:prstGeom>
          <a:noFill/>
        </p:spPr>
        <p:txBody>
          <a:bodyPr wrap="square">
            <a:spAutoFit/>
          </a:bodyPr>
          <a:lstStyle/>
          <a:p>
            <a:pPr algn="l"/>
            <a:r>
              <a:rPr sz="900" b="0" i="0">
                <a:solidFill>
                  <a:srgbClr val="AAAAAA"/>
                </a:solidFill>
              </a:rPr>
              <a:t>"Sensational" has a double meaning: it refers to sensation —
the physical act of feeling — and to something extraordinary
or headline-worthy. Our gloves let players literally sense the
virtual world, and the experience is nothing short of sensational.</a:t>
            </a:r>
          </a:p>
        </p:txBody>
      </p:sp>
      <p:sp>
        <p:nvSpPr>
          <p:cNvPr id="10" name="Rectangle 9"/>
          <p:cNvSpPr/>
          <p:nvPr/>
        </p:nvSpPr>
        <p:spPr>
          <a:xfrm>
            <a:off x="6035040" y="1417320"/>
            <a:ext cx="5669280" cy="1828800"/>
          </a:xfrm>
          <a:prstGeom prst="rect">
            <a:avLst/>
          </a:prstGeom>
          <a:solidFill>
            <a:srgbClr val="1A1A3A"/>
          </a:solidFill>
          <a:ln w="9525">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44768" y="1508760"/>
            <a:ext cx="5449824" cy="320040"/>
          </a:xfrm>
          <a:prstGeom prst="rect">
            <a:avLst/>
          </a:prstGeom>
          <a:noFill/>
        </p:spPr>
        <p:txBody>
          <a:bodyPr wrap="square">
            <a:spAutoFit/>
          </a:bodyPr>
          <a:lstStyle/>
          <a:p>
            <a:pPr algn="l"/>
            <a:r>
              <a:rPr sz="1000" b="1" i="0">
                <a:solidFill>
                  <a:srgbClr val="00E5FF"/>
                </a:solidFill>
              </a:rPr>
              <a:t>✋  "Haptics"</a:t>
            </a:r>
          </a:p>
        </p:txBody>
      </p:sp>
      <p:sp>
        <p:nvSpPr>
          <p:cNvPr id="12" name="TextBox 11"/>
          <p:cNvSpPr txBox="1"/>
          <p:nvPr/>
        </p:nvSpPr>
        <p:spPr>
          <a:xfrm>
            <a:off x="6144768" y="1801368"/>
            <a:ext cx="5449824" cy="1353312"/>
          </a:xfrm>
          <a:prstGeom prst="rect">
            <a:avLst/>
          </a:prstGeom>
          <a:noFill/>
        </p:spPr>
        <p:txBody>
          <a:bodyPr wrap="square">
            <a:spAutoFit/>
          </a:bodyPr>
          <a:lstStyle/>
          <a:p>
            <a:pPr algn="l"/>
            <a:r>
              <a:rPr sz="900" b="0" i="0">
                <a:solidFill>
                  <a:srgbClr val="AAAAAA"/>
                </a:solidFill>
              </a:rPr>
              <a:t>Haptics is the science of touch-based feedback. Calling ourselves
"Haptics" signals that we are specialists in this space — not
just another VR accessory maker, but a company whose entire
identity is built around mastering the sense of touch.</a:t>
            </a:r>
          </a:p>
        </p:txBody>
      </p:sp>
      <p:sp>
        <p:nvSpPr>
          <p:cNvPr id="13" name="Rectangle 12"/>
          <p:cNvSpPr/>
          <p:nvPr/>
        </p:nvSpPr>
        <p:spPr>
          <a:xfrm>
            <a:off x="457200" y="3429000"/>
            <a:ext cx="11247120" cy="1737360"/>
          </a:xfrm>
          <a:prstGeom prst="rect">
            <a:avLst/>
          </a:prstGeom>
          <a:solidFill>
            <a:srgbClr val="1A1A3A"/>
          </a:solidFill>
          <a:ln w="9525">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3520440"/>
            <a:ext cx="11027664" cy="320040"/>
          </a:xfrm>
          <a:prstGeom prst="rect">
            <a:avLst/>
          </a:prstGeom>
          <a:noFill/>
        </p:spPr>
        <p:txBody>
          <a:bodyPr wrap="square">
            <a:spAutoFit/>
          </a:bodyPr>
          <a:lstStyle/>
          <a:p>
            <a:pPr algn="l"/>
            <a:r>
              <a:rPr sz="1000" b="1" i="0">
                <a:solidFill>
                  <a:srgbClr val="7C4DFF"/>
                </a:solidFill>
              </a:rPr>
              <a:t>🔗  Together — "Sensational Haptics"</a:t>
            </a:r>
          </a:p>
        </p:txBody>
      </p:sp>
      <p:sp>
        <p:nvSpPr>
          <p:cNvPr id="15" name="TextBox 14"/>
          <p:cNvSpPr txBox="1"/>
          <p:nvPr/>
        </p:nvSpPr>
        <p:spPr>
          <a:xfrm>
            <a:off x="566928" y="3813048"/>
            <a:ext cx="11027664" cy="1261872"/>
          </a:xfrm>
          <a:prstGeom prst="rect">
            <a:avLst/>
          </a:prstGeom>
          <a:noFill/>
        </p:spPr>
        <p:txBody>
          <a:bodyPr wrap="square">
            <a:spAutoFit/>
          </a:bodyPr>
          <a:lstStyle/>
          <a:p>
            <a:pPr algn="l"/>
            <a:r>
              <a:rPr sz="900" b="0" i="0">
                <a:solidFill>
                  <a:srgbClr val="AAAAAA"/>
                </a:solidFill>
              </a:rPr>
              <a:t>"Sensational Haptics" is easy to remember, clearly describes what we do,
and inspires excitement. It positions our brand at the intersection of
cutting-edge technology and unforgettable human experience.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0D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731520"/>
          </a:xfrm>
          <a:prstGeom prst="rect">
            <a:avLst/>
          </a:prstGeom>
          <a:noFill/>
        </p:spPr>
        <p:txBody>
          <a:bodyPr wrap="square">
            <a:spAutoFit/>
          </a:bodyPr>
          <a:lstStyle/>
          <a:p>
            <a:pPr algn="l"/>
            <a:r>
              <a:rPr sz="3200" b="1" i="0">
                <a:solidFill>
                  <a:srgbClr val="00E5FF"/>
                </a:solidFill>
              </a:rPr>
              <a:t>The Slogan</a:t>
            </a:r>
          </a:p>
        </p:txBody>
      </p:sp>
      <p:sp>
        <p:nvSpPr>
          <p:cNvPr id="4" name="Rectangle 3"/>
          <p:cNvSpPr/>
          <p:nvPr/>
        </p:nvSpPr>
        <p:spPr>
          <a:xfrm>
            <a:off x="548640" y="1097280"/>
            <a:ext cx="1097280" cy="38100"/>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645920" y="1097280"/>
            <a:ext cx="1097280" cy="38100"/>
          </a:xfrm>
          <a:prstGeom prst="rect">
            <a:avLst/>
          </a:prstGeom>
          <a:solidFill>
            <a:srgbClr val="7C4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71600"/>
            <a:ext cx="11247120" cy="1005840"/>
          </a:xfrm>
          <a:prstGeom prst="rect">
            <a:avLst/>
          </a:prstGeom>
          <a:noFill/>
        </p:spPr>
        <p:txBody>
          <a:bodyPr wrap="square">
            <a:spAutoFit/>
          </a:bodyPr>
          <a:lstStyle/>
          <a:p>
            <a:pPr algn="ctr"/>
            <a:r>
              <a:rPr sz="3400" b="1" i="0">
                <a:solidFill>
                  <a:srgbClr val="FFFFFF"/>
                </a:solidFill>
              </a:rPr>
              <a:t>"Feel Every Virtual World."</a:t>
            </a:r>
          </a:p>
        </p:txBody>
      </p:sp>
      <p:sp>
        <p:nvSpPr>
          <p:cNvPr id="7" name="Rectangle 6"/>
          <p:cNvSpPr/>
          <p:nvPr/>
        </p:nvSpPr>
        <p:spPr>
          <a:xfrm>
            <a:off x="4114800" y="2377440"/>
            <a:ext cx="3931920" cy="31750"/>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2606040"/>
            <a:ext cx="5486400" cy="1920240"/>
          </a:xfrm>
          <a:prstGeom prst="rect">
            <a:avLst/>
          </a:prstGeom>
          <a:solidFill>
            <a:srgbClr val="1A1A3A"/>
          </a:solidFill>
          <a:ln w="9525">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2697480"/>
            <a:ext cx="5266944" cy="320040"/>
          </a:xfrm>
          <a:prstGeom prst="rect">
            <a:avLst/>
          </a:prstGeom>
          <a:noFill/>
        </p:spPr>
        <p:txBody>
          <a:bodyPr wrap="square">
            <a:spAutoFit/>
          </a:bodyPr>
          <a:lstStyle/>
          <a:p>
            <a:pPr algn="l"/>
            <a:r>
              <a:rPr sz="1000" b="1" i="0">
                <a:solidFill>
                  <a:srgbClr val="00E5FF"/>
                </a:solidFill>
              </a:rPr>
              <a:t>Why "Feel"?</a:t>
            </a:r>
          </a:p>
        </p:txBody>
      </p:sp>
      <p:sp>
        <p:nvSpPr>
          <p:cNvPr id="10" name="TextBox 9"/>
          <p:cNvSpPr txBox="1"/>
          <p:nvPr/>
        </p:nvSpPr>
        <p:spPr>
          <a:xfrm>
            <a:off x="566928" y="2990088"/>
            <a:ext cx="5266944" cy="1444752"/>
          </a:xfrm>
          <a:prstGeom prst="rect">
            <a:avLst/>
          </a:prstGeom>
          <a:noFill/>
        </p:spPr>
        <p:txBody>
          <a:bodyPr wrap="square">
            <a:spAutoFit/>
          </a:bodyPr>
          <a:lstStyle/>
          <a:p>
            <a:pPr algn="l"/>
            <a:r>
              <a:rPr sz="900" b="0" i="0">
                <a:solidFill>
                  <a:srgbClr val="AAAAAA"/>
                </a:solidFill>
              </a:rPr>
              <a:t>Touch is the one sense VR has failed to recreate — until now.
"Feel" is an immediate, visceral verb that instantly communicates
our value proposition: we give players the sense of touch back.</a:t>
            </a:r>
          </a:p>
        </p:txBody>
      </p:sp>
      <p:sp>
        <p:nvSpPr>
          <p:cNvPr id="11" name="Rectangle 10"/>
          <p:cNvSpPr/>
          <p:nvPr/>
        </p:nvSpPr>
        <p:spPr>
          <a:xfrm>
            <a:off x="6217920" y="2606040"/>
            <a:ext cx="5486400" cy="1920240"/>
          </a:xfrm>
          <a:prstGeom prst="rect">
            <a:avLst/>
          </a:prstGeom>
          <a:solidFill>
            <a:srgbClr val="1A1A3A"/>
          </a:solidFill>
          <a:ln w="9525">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27648" y="2697480"/>
            <a:ext cx="5266944" cy="320040"/>
          </a:xfrm>
          <a:prstGeom prst="rect">
            <a:avLst/>
          </a:prstGeom>
          <a:noFill/>
        </p:spPr>
        <p:txBody>
          <a:bodyPr wrap="square">
            <a:spAutoFit/>
          </a:bodyPr>
          <a:lstStyle/>
          <a:p>
            <a:pPr algn="l"/>
            <a:r>
              <a:rPr sz="1000" b="1" i="0">
                <a:solidFill>
                  <a:srgbClr val="00E5FF"/>
                </a:solidFill>
              </a:rPr>
              <a:t>Why "Every Virtual World"?</a:t>
            </a:r>
          </a:p>
        </p:txBody>
      </p:sp>
      <p:sp>
        <p:nvSpPr>
          <p:cNvPr id="13" name="TextBox 12"/>
          <p:cNvSpPr txBox="1"/>
          <p:nvPr/>
        </p:nvSpPr>
        <p:spPr>
          <a:xfrm>
            <a:off x="6327648" y="2990088"/>
            <a:ext cx="5266944" cy="1444752"/>
          </a:xfrm>
          <a:prstGeom prst="rect">
            <a:avLst/>
          </a:prstGeom>
          <a:noFill/>
        </p:spPr>
        <p:txBody>
          <a:bodyPr wrap="square">
            <a:spAutoFit/>
          </a:bodyPr>
          <a:lstStyle/>
          <a:p>
            <a:pPr algn="l"/>
            <a:r>
              <a:rPr sz="900" b="0" i="0">
                <a:solidFill>
                  <a:srgbClr val="AAAAAA"/>
                </a:solidFill>
              </a:rPr>
              <a:t>Our gloves work across Meta, Steam, PlayStation, and Vive ecosystems.
"Every" signals universal compatibility — no matter which headset
you own, we have you covered.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0D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731520"/>
          </a:xfrm>
          <a:prstGeom prst="rect">
            <a:avLst/>
          </a:prstGeom>
          <a:noFill/>
        </p:spPr>
        <p:txBody>
          <a:bodyPr wrap="square">
            <a:spAutoFit/>
          </a:bodyPr>
          <a:lstStyle/>
          <a:p>
            <a:pPr algn="l"/>
            <a:r>
              <a:rPr sz="3200" b="1" i="0">
                <a:solidFill>
                  <a:srgbClr val="00E5FF"/>
                </a:solidFill>
              </a:rPr>
              <a:t>The Logo</a:t>
            </a:r>
          </a:p>
        </p:txBody>
      </p:sp>
      <p:sp>
        <p:nvSpPr>
          <p:cNvPr id="4" name="Rectangle 3"/>
          <p:cNvSpPr/>
          <p:nvPr/>
        </p:nvSpPr>
        <p:spPr>
          <a:xfrm>
            <a:off x="548640" y="1097280"/>
            <a:ext cx="1097280" cy="38100"/>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645920" y="1097280"/>
            <a:ext cx="1097280" cy="38100"/>
          </a:xfrm>
          <a:prstGeom prst="rect">
            <a:avLst/>
          </a:prstGeom>
          <a:solidFill>
            <a:srgbClr val="7C4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88720"/>
            <a:ext cx="10972800" cy="411480"/>
          </a:xfrm>
          <a:prstGeom prst="rect">
            <a:avLst/>
          </a:prstGeom>
          <a:noFill/>
        </p:spPr>
        <p:txBody>
          <a:bodyPr wrap="square">
            <a:spAutoFit/>
          </a:bodyPr>
          <a:lstStyle/>
          <a:p>
            <a:pPr algn="l"/>
            <a:r>
              <a:rPr sz="1200" b="0" i="0">
                <a:solidFill>
                  <a:srgbClr val="AAAAAA"/>
                </a:solidFill>
              </a:rPr>
              <a:t>Design rationale</a:t>
            </a:r>
          </a:p>
        </p:txBody>
      </p:sp>
      <p:sp>
        <p:nvSpPr>
          <p:cNvPr id="7" name="Rectangle 6"/>
          <p:cNvSpPr/>
          <p:nvPr/>
        </p:nvSpPr>
        <p:spPr>
          <a:xfrm>
            <a:off x="548640" y="1417320"/>
            <a:ext cx="4572000" cy="3474720"/>
          </a:xfrm>
          <a:prstGeom prst="rect">
            <a:avLst/>
          </a:prstGeom>
          <a:solidFill>
            <a:srgbClr val="050518"/>
          </a:solidFill>
          <a:ln w="9525">
            <a:solidFill>
              <a:srgbClr val="7C4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651760"/>
            <a:ext cx="4572000" cy="548640"/>
          </a:xfrm>
          <a:prstGeom prst="rect">
            <a:avLst/>
          </a:prstGeom>
          <a:noFill/>
        </p:spPr>
        <p:txBody>
          <a:bodyPr wrap="square">
            <a:spAutoFit/>
          </a:bodyPr>
          <a:lstStyle/>
          <a:p>
            <a:pPr algn="ctr"/>
            <a:r>
              <a:rPr sz="1100" b="0" i="0">
                <a:solidFill>
                  <a:srgbClr val="444444"/>
                </a:solidFill>
              </a:rPr>
              <a:t>[ Logo Placeholder ]</a:t>
            </a:r>
          </a:p>
        </p:txBody>
      </p:sp>
      <p:sp>
        <p:nvSpPr>
          <p:cNvPr id="9" name="TextBox 8"/>
          <p:cNvSpPr txBox="1"/>
          <p:nvPr/>
        </p:nvSpPr>
        <p:spPr>
          <a:xfrm>
            <a:off x="914400" y="2834640"/>
            <a:ext cx="3840480" cy="502920"/>
          </a:xfrm>
          <a:prstGeom prst="rect">
            <a:avLst/>
          </a:prstGeom>
          <a:noFill/>
        </p:spPr>
        <p:txBody>
          <a:bodyPr wrap="square">
            <a:spAutoFit/>
          </a:bodyPr>
          <a:lstStyle/>
          <a:p>
            <a:pPr algn="ctr"/>
            <a:r>
              <a:rPr sz="1800" b="1" i="0">
                <a:solidFill>
                  <a:srgbClr val="00E5FF"/>
                </a:solidFill>
              </a:rPr>
              <a:t>SENSATIONAL</a:t>
            </a:r>
          </a:p>
        </p:txBody>
      </p:sp>
      <p:sp>
        <p:nvSpPr>
          <p:cNvPr id="10" name="TextBox 9"/>
          <p:cNvSpPr txBox="1"/>
          <p:nvPr/>
        </p:nvSpPr>
        <p:spPr>
          <a:xfrm>
            <a:off x="914400" y="3337560"/>
            <a:ext cx="3840480" cy="411480"/>
          </a:xfrm>
          <a:prstGeom prst="rect">
            <a:avLst/>
          </a:prstGeom>
          <a:noFill/>
        </p:spPr>
        <p:txBody>
          <a:bodyPr wrap="square">
            <a:spAutoFit/>
          </a:bodyPr>
          <a:lstStyle/>
          <a:p>
            <a:pPr algn="ctr"/>
            <a:r>
              <a:rPr sz="1300" b="0" i="0">
                <a:solidFill>
                  <a:srgbClr val="AAAAAA"/>
                </a:solidFill>
              </a:rPr>
              <a:t>H A P T I C S</a:t>
            </a:r>
          </a:p>
        </p:txBody>
      </p:sp>
      <p:sp>
        <p:nvSpPr>
          <p:cNvPr id="11" name="TextBox 10"/>
          <p:cNvSpPr txBox="1"/>
          <p:nvPr/>
        </p:nvSpPr>
        <p:spPr>
          <a:xfrm>
            <a:off x="914400" y="3794760"/>
            <a:ext cx="3840480" cy="320040"/>
          </a:xfrm>
          <a:prstGeom prst="rect">
            <a:avLst/>
          </a:prstGeom>
          <a:noFill/>
        </p:spPr>
        <p:txBody>
          <a:bodyPr wrap="square">
            <a:spAutoFit/>
          </a:bodyPr>
          <a:lstStyle/>
          <a:p>
            <a:pPr algn="ctr"/>
            <a:r>
              <a:rPr sz="800" b="0" i="0">
                <a:solidFill>
                  <a:srgbClr val="444444"/>
                </a:solidFill>
              </a:rPr>
              <a:t>FEEL EVERY VIRTUAL WORLD</a:t>
            </a:r>
          </a:p>
        </p:txBody>
      </p:sp>
      <p:sp>
        <p:nvSpPr>
          <p:cNvPr id="12" name="Rectangle 11"/>
          <p:cNvSpPr/>
          <p:nvPr/>
        </p:nvSpPr>
        <p:spPr>
          <a:xfrm>
            <a:off x="5486400" y="1417320"/>
            <a:ext cx="6217920" cy="1600200"/>
          </a:xfrm>
          <a:prstGeom prst="rect">
            <a:avLst/>
          </a:prstGeom>
          <a:solidFill>
            <a:srgbClr val="1A1A3A"/>
          </a:solidFill>
          <a:ln w="9525">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596128" y="1508760"/>
            <a:ext cx="5998464" cy="320040"/>
          </a:xfrm>
          <a:prstGeom prst="rect">
            <a:avLst/>
          </a:prstGeom>
          <a:noFill/>
        </p:spPr>
        <p:txBody>
          <a:bodyPr wrap="square">
            <a:spAutoFit/>
          </a:bodyPr>
          <a:lstStyle/>
          <a:p>
            <a:pPr algn="l"/>
            <a:r>
              <a:rPr sz="1000" b="1" i="0">
                <a:solidFill>
                  <a:srgbClr val="00E5FF"/>
                </a:solidFill>
              </a:rPr>
              <a:t>🖐  The Hand</a:t>
            </a:r>
          </a:p>
        </p:txBody>
      </p:sp>
      <p:sp>
        <p:nvSpPr>
          <p:cNvPr id="14" name="TextBox 13"/>
          <p:cNvSpPr txBox="1"/>
          <p:nvPr/>
        </p:nvSpPr>
        <p:spPr>
          <a:xfrm>
            <a:off x="5596128" y="1801368"/>
            <a:ext cx="5998464" cy="1124712"/>
          </a:xfrm>
          <a:prstGeom prst="rect">
            <a:avLst/>
          </a:prstGeom>
          <a:noFill/>
        </p:spPr>
        <p:txBody>
          <a:bodyPr wrap="square">
            <a:spAutoFit/>
          </a:bodyPr>
          <a:lstStyle/>
          <a:p>
            <a:pPr algn="l"/>
            <a:r>
              <a:rPr sz="900" b="0" i="0">
                <a:solidFill>
                  <a:srgbClr val="AAAAAA"/>
                </a:solidFill>
              </a:rPr>
              <a:t>An abstract glove silhouette instantly communicates the product.
The open-hand pose suggests both interaction and welcome —
inviting users into a new sensory dimension.</a:t>
            </a:r>
          </a:p>
        </p:txBody>
      </p:sp>
      <p:sp>
        <p:nvSpPr>
          <p:cNvPr id="15" name="Rectangle 14"/>
          <p:cNvSpPr/>
          <p:nvPr/>
        </p:nvSpPr>
        <p:spPr>
          <a:xfrm>
            <a:off x="5486400" y="3200400"/>
            <a:ext cx="6217920" cy="1691640"/>
          </a:xfrm>
          <a:prstGeom prst="rect">
            <a:avLst/>
          </a:prstGeom>
          <a:solidFill>
            <a:srgbClr val="1A1A3A"/>
          </a:solidFill>
          <a:ln w="9525">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596128" y="3291840"/>
            <a:ext cx="5998464" cy="320040"/>
          </a:xfrm>
          <a:prstGeom prst="rect">
            <a:avLst/>
          </a:prstGeom>
          <a:noFill/>
        </p:spPr>
        <p:txBody>
          <a:bodyPr wrap="square">
            <a:spAutoFit/>
          </a:bodyPr>
          <a:lstStyle/>
          <a:p>
            <a:pPr algn="l"/>
            <a:r>
              <a:rPr sz="1000" b="1" i="0">
                <a:solidFill>
                  <a:srgbClr val="00E5FF"/>
                </a:solidFill>
              </a:rPr>
              <a:t>💡  Pulse Rings</a:t>
            </a:r>
          </a:p>
        </p:txBody>
      </p:sp>
      <p:sp>
        <p:nvSpPr>
          <p:cNvPr id="17" name="TextBox 16"/>
          <p:cNvSpPr txBox="1"/>
          <p:nvPr/>
        </p:nvSpPr>
        <p:spPr>
          <a:xfrm>
            <a:off x="5596128" y="3584448"/>
            <a:ext cx="5998464" cy="1216152"/>
          </a:xfrm>
          <a:prstGeom prst="rect">
            <a:avLst/>
          </a:prstGeom>
          <a:noFill/>
        </p:spPr>
        <p:txBody>
          <a:bodyPr wrap="square">
            <a:spAutoFit/>
          </a:bodyPr>
          <a:lstStyle/>
          <a:p>
            <a:pPr algn="l"/>
            <a:r>
              <a:rPr sz="900" b="0" i="0">
                <a:solidFill>
                  <a:srgbClr val="AAAAAA"/>
                </a:solidFill>
              </a:rPr>
              <a:t>Small rings on each fingertip represent haptic feedback pulses
radiating outward — touch becoming visible.
The gradient (cyan → purple) evokes technology and creativity.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0D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731520"/>
          </a:xfrm>
          <a:prstGeom prst="rect">
            <a:avLst/>
          </a:prstGeom>
          <a:noFill/>
        </p:spPr>
        <p:txBody>
          <a:bodyPr wrap="square">
            <a:spAutoFit/>
          </a:bodyPr>
          <a:lstStyle/>
          <a:p>
            <a:pPr algn="l"/>
            <a:r>
              <a:rPr sz="3200" b="1" i="0">
                <a:solidFill>
                  <a:srgbClr val="00E5FF"/>
                </a:solidFill>
              </a:rPr>
              <a:t>The Jingle</a:t>
            </a:r>
          </a:p>
        </p:txBody>
      </p:sp>
      <p:sp>
        <p:nvSpPr>
          <p:cNvPr id="4" name="Rectangle 3"/>
          <p:cNvSpPr/>
          <p:nvPr/>
        </p:nvSpPr>
        <p:spPr>
          <a:xfrm>
            <a:off x="548640" y="1097280"/>
            <a:ext cx="1097280" cy="38100"/>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645920" y="1097280"/>
            <a:ext cx="1097280" cy="38100"/>
          </a:xfrm>
          <a:prstGeom prst="rect">
            <a:avLst/>
          </a:prstGeom>
          <a:solidFill>
            <a:srgbClr val="7C4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88720"/>
            <a:ext cx="10972800" cy="411480"/>
          </a:xfrm>
          <a:prstGeom prst="rect">
            <a:avLst/>
          </a:prstGeom>
          <a:noFill/>
        </p:spPr>
        <p:txBody>
          <a:bodyPr wrap="square">
            <a:spAutoFit/>
          </a:bodyPr>
          <a:lstStyle/>
          <a:p>
            <a:pPr algn="l"/>
            <a:r>
              <a:rPr sz="1200" b="0" i="0">
                <a:solidFill>
                  <a:srgbClr val="AAAAAA"/>
                </a:solidFill>
              </a:rPr>
              <a:t>Short · Catchy · Memorable</a:t>
            </a:r>
          </a:p>
        </p:txBody>
      </p:sp>
      <p:sp>
        <p:nvSpPr>
          <p:cNvPr id="7" name="Rectangle 6"/>
          <p:cNvSpPr/>
          <p:nvPr/>
        </p:nvSpPr>
        <p:spPr>
          <a:xfrm>
            <a:off x="1371600" y="1417320"/>
            <a:ext cx="9418320" cy="2377440"/>
          </a:xfrm>
          <a:prstGeom prst="rect">
            <a:avLst/>
          </a:prstGeom>
          <a:solidFill>
            <a:srgbClr val="200510"/>
          </a:solidFill>
          <a:ln w="9525">
            <a:solidFill>
              <a:srgbClr val="FF40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554480" y="1508760"/>
            <a:ext cx="9052560" cy="2103120"/>
          </a:xfrm>
          <a:prstGeom prst="rect">
            <a:avLst/>
          </a:prstGeom>
          <a:noFill/>
        </p:spPr>
        <p:txBody>
          <a:bodyPr wrap="square">
            <a:spAutoFit/>
          </a:bodyPr>
          <a:lstStyle/>
          <a:p>
            <a:pPr algn="ctr"/>
            <a:r>
              <a:rPr sz="1500" b="0" i="1">
                <a:solidFill>
                  <a:srgbClr val="FFFFFF"/>
                </a:solidFill>
              </a:rPr>
              <a:t>♪  Put your hands on, feel the beat,
    every texture, every heat. ♪
♪  Reach right in — it's real today,
    Sensational Haptics — let you feel the way! ♪</a:t>
            </a:r>
          </a:p>
        </p:txBody>
      </p:sp>
      <p:sp>
        <p:nvSpPr>
          <p:cNvPr id="9" name="TextBox 8"/>
          <p:cNvSpPr txBox="1"/>
          <p:nvPr/>
        </p:nvSpPr>
        <p:spPr>
          <a:xfrm>
            <a:off x="1371600" y="3886200"/>
            <a:ext cx="9418320" cy="365760"/>
          </a:xfrm>
          <a:prstGeom prst="rect">
            <a:avLst/>
          </a:prstGeom>
          <a:noFill/>
        </p:spPr>
        <p:txBody>
          <a:bodyPr wrap="square">
            <a:spAutoFit/>
          </a:bodyPr>
          <a:lstStyle/>
          <a:p>
            <a:pPr algn="ctr"/>
            <a:r>
              <a:rPr sz="1000" b="0" i="0">
                <a:solidFill>
                  <a:srgbClr val="AAAAAA"/>
                </a:solidFill>
              </a:rPr>
              <a:t>🎵  Upbeat synth-pop melody · 8-second hook · works as a pre-roll ad &amp; in-store loop</a:t>
            </a:r>
          </a:p>
        </p:txBody>
      </p:sp>
      <p:sp>
        <p:nvSpPr>
          <p:cNvPr id="10" name="Rectangle 9"/>
          <p:cNvSpPr/>
          <p:nvPr/>
        </p:nvSpPr>
        <p:spPr>
          <a:xfrm>
            <a:off x="457200" y="4434840"/>
            <a:ext cx="5486400" cy="1645920"/>
          </a:xfrm>
          <a:prstGeom prst="rect">
            <a:avLst/>
          </a:prstGeom>
          <a:solidFill>
            <a:srgbClr val="1A1A3A"/>
          </a:solidFill>
          <a:ln w="9525">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4526280"/>
            <a:ext cx="5266944" cy="320040"/>
          </a:xfrm>
          <a:prstGeom prst="rect">
            <a:avLst/>
          </a:prstGeom>
          <a:noFill/>
        </p:spPr>
        <p:txBody>
          <a:bodyPr wrap="square">
            <a:spAutoFit/>
          </a:bodyPr>
          <a:lstStyle/>
          <a:p>
            <a:pPr algn="l"/>
            <a:r>
              <a:rPr sz="1000" b="1" i="0">
                <a:solidFill>
                  <a:srgbClr val="00E5FF"/>
                </a:solidFill>
              </a:rPr>
              <a:t>Why it's catchy</a:t>
            </a:r>
          </a:p>
        </p:txBody>
      </p:sp>
      <p:sp>
        <p:nvSpPr>
          <p:cNvPr id="12" name="TextBox 11"/>
          <p:cNvSpPr txBox="1"/>
          <p:nvPr/>
        </p:nvSpPr>
        <p:spPr>
          <a:xfrm>
            <a:off x="566928" y="4818888"/>
            <a:ext cx="5266944" cy="1170432"/>
          </a:xfrm>
          <a:prstGeom prst="rect">
            <a:avLst/>
          </a:prstGeom>
          <a:noFill/>
        </p:spPr>
        <p:txBody>
          <a:bodyPr wrap="square">
            <a:spAutoFit/>
          </a:bodyPr>
          <a:lstStyle/>
          <a:p>
            <a:pPr algn="l"/>
            <a:r>
              <a:rPr sz="900" b="0" i="0">
                <a:solidFill>
                  <a:srgbClr val="AAAAAA"/>
                </a:solidFill>
              </a:rPr>
              <a:t>Short AABB rhyme scheme, strong action verbs ("put", "reach"),
and the brand name lands on the final beat —
a natural call-to-action placement.</a:t>
            </a:r>
          </a:p>
        </p:txBody>
      </p:sp>
      <p:sp>
        <p:nvSpPr>
          <p:cNvPr id="13" name="Rectangle 12"/>
          <p:cNvSpPr/>
          <p:nvPr/>
        </p:nvSpPr>
        <p:spPr>
          <a:xfrm>
            <a:off x="6217920" y="4434840"/>
            <a:ext cx="5486400" cy="1645920"/>
          </a:xfrm>
          <a:prstGeom prst="rect">
            <a:avLst/>
          </a:prstGeom>
          <a:solidFill>
            <a:srgbClr val="1A1A3A"/>
          </a:solidFill>
          <a:ln w="9525">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27648" y="4526280"/>
            <a:ext cx="5266944" cy="320040"/>
          </a:xfrm>
          <a:prstGeom prst="rect">
            <a:avLst/>
          </a:prstGeom>
          <a:noFill/>
        </p:spPr>
        <p:txBody>
          <a:bodyPr wrap="square">
            <a:spAutoFit/>
          </a:bodyPr>
          <a:lstStyle/>
          <a:p>
            <a:pPr algn="l"/>
            <a:r>
              <a:rPr sz="1000" b="1" i="0">
                <a:solidFill>
                  <a:srgbClr val="00E5FF"/>
                </a:solidFill>
              </a:rPr>
              <a:t>Strategic value</a:t>
            </a:r>
          </a:p>
        </p:txBody>
      </p:sp>
      <p:sp>
        <p:nvSpPr>
          <p:cNvPr id="15" name="TextBox 14"/>
          <p:cNvSpPr txBox="1"/>
          <p:nvPr/>
        </p:nvSpPr>
        <p:spPr>
          <a:xfrm>
            <a:off x="6327648" y="4818888"/>
            <a:ext cx="5266944" cy="1170432"/>
          </a:xfrm>
          <a:prstGeom prst="rect">
            <a:avLst/>
          </a:prstGeom>
          <a:noFill/>
        </p:spPr>
        <p:txBody>
          <a:bodyPr wrap="square">
            <a:spAutoFit/>
          </a:bodyPr>
          <a:lstStyle/>
          <a:p>
            <a:pPr algn="l"/>
            <a:r>
              <a:rPr sz="900" b="0" i="0">
                <a:solidFill>
                  <a:srgbClr val="AAAAAA"/>
                </a:solidFill>
              </a:rPr>
              <a:t>The jingle doubles as a sonic logo — the last bar alone
("Sensational Haptics") can run as a 2-second audio
watermark on every video ad.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0D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731520"/>
          </a:xfrm>
          <a:prstGeom prst="rect">
            <a:avLst/>
          </a:prstGeom>
          <a:noFill/>
        </p:spPr>
        <p:txBody>
          <a:bodyPr wrap="square">
            <a:spAutoFit/>
          </a:bodyPr>
          <a:lstStyle/>
          <a:p>
            <a:pPr algn="l"/>
            <a:r>
              <a:rPr sz="3200" b="1" i="0">
                <a:solidFill>
                  <a:srgbClr val="00E5FF"/>
                </a:solidFill>
              </a:rPr>
              <a:t>Meet the Founders</a:t>
            </a:r>
          </a:p>
        </p:txBody>
      </p:sp>
      <p:sp>
        <p:nvSpPr>
          <p:cNvPr id="4" name="Rectangle 3"/>
          <p:cNvSpPr/>
          <p:nvPr/>
        </p:nvSpPr>
        <p:spPr>
          <a:xfrm>
            <a:off x="548640" y="1097280"/>
            <a:ext cx="1097280" cy="38100"/>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645920" y="1097280"/>
            <a:ext cx="1097280" cy="38100"/>
          </a:xfrm>
          <a:prstGeom prst="rect">
            <a:avLst/>
          </a:prstGeom>
          <a:solidFill>
            <a:srgbClr val="7C4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4400" y="1417320"/>
            <a:ext cx="4480560" cy="4663440"/>
          </a:xfrm>
          <a:prstGeom prst="rect">
            <a:avLst/>
          </a:prstGeom>
          <a:solidFill>
            <a:srgbClr val="1A1A3A"/>
          </a:solidFill>
          <a:ln w="9525">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60320" y="1600200"/>
            <a:ext cx="1188720" cy="640080"/>
          </a:xfrm>
          <a:prstGeom prst="rect">
            <a:avLst/>
          </a:prstGeom>
          <a:noFill/>
        </p:spPr>
        <p:txBody>
          <a:bodyPr wrap="square">
            <a:spAutoFit/>
          </a:bodyPr>
          <a:lstStyle/>
          <a:p>
            <a:pPr algn="ctr"/>
            <a:r>
              <a:rPr sz="2600" b="1" i="0">
                <a:solidFill>
                  <a:srgbClr val="FFFFFF"/>
                </a:solidFill>
              </a:rPr>
              <a:t>SB</a:t>
            </a:r>
          </a:p>
        </p:txBody>
      </p:sp>
      <p:sp>
        <p:nvSpPr>
          <p:cNvPr id="8" name="TextBox 7"/>
          <p:cNvSpPr txBox="1"/>
          <p:nvPr/>
        </p:nvSpPr>
        <p:spPr>
          <a:xfrm>
            <a:off x="914400" y="2377440"/>
            <a:ext cx="4480560" cy="457200"/>
          </a:xfrm>
          <a:prstGeom prst="rect">
            <a:avLst/>
          </a:prstGeom>
          <a:noFill/>
        </p:spPr>
        <p:txBody>
          <a:bodyPr wrap="square">
            <a:spAutoFit/>
          </a:bodyPr>
          <a:lstStyle/>
          <a:p>
            <a:pPr algn="ctr"/>
            <a:r>
              <a:rPr sz="1600" b="1" i="0">
                <a:solidFill>
                  <a:srgbClr val="FFFFFF"/>
                </a:solidFill>
              </a:rPr>
              <a:t>Strong Baker</a:t>
            </a:r>
          </a:p>
        </p:txBody>
      </p:sp>
      <p:sp>
        <p:nvSpPr>
          <p:cNvPr id="9" name="TextBox 8"/>
          <p:cNvSpPr txBox="1"/>
          <p:nvPr/>
        </p:nvSpPr>
        <p:spPr>
          <a:xfrm>
            <a:off x="914400" y="2834640"/>
            <a:ext cx="4480560" cy="411480"/>
          </a:xfrm>
          <a:prstGeom prst="rect">
            <a:avLst/>
          </a:prstGeom>
          <a:noFill/>
        </p:spPr>
        <p:txBody>
          <a:bodyPr wrap="square">
            <a:spAutoFit/>
          </a:bodyPr>
          <a:lstStyle/>
          <a:p>
            <a:pPr algn="ctr"/>
            <a:r>
              <a:rPr sz="1000" b="0" i="0">
                <a:solidFill>
                  <a:srgbClr val="00E5FF"/>
                </a:solidFill>
              </a:rPr>
              <a:t>Co-founder &amp; Head of Hardware Engineering</a:t>
            </a:r>
          </a:p>
        </p:txBody>
      </p:sp>
      <p:sp>
        <p:nvSpPr>
          <p:cNvPr id="10" name="TextBox 9"/>
          <p:cNvSpPr txBox="1"/>
          <p:nvPr/>
        </p:nvSpPr>
        <p:spPr>
          <a:xfrm>
            <a:off x="1097280" y="3337560"/>
            <a:ext cx="4114800" cy="2377440"/>
          </a:xfrm>
          <a:prstGeom prst="rect">
            <a:avLst/>
          </a:prstGeom>
          <a:noFill/>
        </p:spPr>
        <p:txBody>
          <a:bodyPr wrap="square">
            <a:spAutoFit/>
          </a:bodyPr>
          <a:lstStyle/>
          <a:p>
            <a:pPr algn="ctr"/>
            <a:r>
              <a:rPr sz="1000" b="0" i="0">
                <a:solidFill>
                  <a:srgbClr val="AAAAAA"/>
                </a:solidFill>
              </a:rPr>
              <a:t>Strong leads the design and prototyping of the haptic
glove hardware, overseeing the ESP32 firmware,
motor driver integration, and infrared tracking system.
Passionate about making cutting-edge tech accessible
and open-source.</a:t>
            </a:r>
          </a:p>
        </p:txBody>
      </p:sp>
      <p:sp>
        <p:nvSpPr>
          <p:cNvPr id="11" name="Rectangle 10"/>
          <p:cNvSpPr/>
          <p:nvPr/>
        </p:nvSpPr>
        <p:spPr>
          <a:xfrm>
            <a:off x="6766560" y="1417320"/>
            <a:ext cx="4480560" cy="4663440"/>
          </a:xfrm>
          <a:prstGeom prst="rect">
            <a:avLst/>
          </a:prstGeom>
          <a:solidFill>
            <a:srgbClr val="1A1A3A"/>
          </a:solidFill>
          <a:ln w="9525">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0" y="1600200"/>
            <a:ext cx="1188720" cy="640080"/>
          </a:xfrm>
          <a:prstGeom prst="rect">
            <a:avLst/>
          </a:prstGeom>
          <a:noFill/>
        </p:spPr>
        <p:txBody>
          <a:bodyPr wrap="square">
            <a:spAutoFit/>
          </a:bodyPr>
          <a:lstStyle/>
          <a:p>
            <a:pPr algn="ctr"/>
            <a:r>
              <a:rPr sz="2600" b="1" i="0">
                <a:solidFill>
                  <a:srgbClr val="FFFFFF"/>
                </a:solidFill>
              </a:rPr>
              <a:t>JL</a:t>
            </a:r>
          </a:p>
        </p:txBody>
      </p:sp>
      <p:sp>
        <p:nvSpPr>
          <p:cNvPr id="13" name="TextBox 12"/>
          <p:cNvSpPr txBox="1"/>
          <p:nvPr/>
        </p:nvSpPr>
        <p:spPr>
          <a:xfrm>
            <a:off x="6766560" y="2377440"/>
            <a:ext cx="4480560" cy="457200"/>
          </a:xfrm>
          <a:prstGeom prst="rect">
            <a:avLst/>
          </a:prstGeom>
          <a:noFill/>
        </p:spPr>
        <p:txBody>
          <a:bodyPr wrap="square">
            <a:spAutoFit/>
          </a:bodyPr>
          <a:lstStyle/>
          <a:p>
            <a:pPr algn="ctr"/>
            <a:r>
              <a:rPr sz="1600" b="1" i="0">
                <a:solidFill>
                  <a:srgbClr val="FFFFFF"/>
                </a:solidFill>
              </a:rPr>
              <a:t>Jeremy Lakey</a:t>
            </a:r>
          </a:p>
        </p:txBody>
      </p:sp>
      <p:sp>
        <p:nvSpPr>
          <p:cNvPr id="14" name="TextBox 13"/>
          <p:cNvSpPr txBox="1"/>
          <p:nvPr/>
        </p:nvSpPr>
        <p:spPr>
          <a:xfrm>
            <a:off x="6766560" y="2834640"/>
            <a:ext cx="4480560" cy="411480"/>
          </a:xfrm>
          <a:prstGeom prst="rect">
            <a:avLst/>
          </a:prstGeom>
          <a:noFill/>
        </p:spPr>
        <p:txBody>
          <a:bodyPr wrap="square">
            <a:spAutoFit/>
          </a:bodyPr>
          <a:lstStyle/>
          <a:p>
            <a:pPr algn="ctr"/>
            <a:r>
              <a:rPr sz="1000" b="0" i="0">
                <a:solidFill>
                  <a:srgbClr val="7C4DFF"/>
                </a:solidFill>
              </a:rPr>
              <a:t>Co-founder &amp; Head of Software &amp; Community</a:t>
            </a:r>
          </a:p>
        </p:txBody>
      </p:sp>
      <p:sp>
        <p:nvSpPr>
          <p:cNvPr id="15" name="TextBox 14"/>
          <p:cNvSpPr txBox="1"/>
          <p:nvPr/>
        </p:nvSpPr>
        <p:spPr>
          <a:xfrm>
            <a:off x="6949440" y="3337560"/>
            <a:ext cx="4114800" cy="2377440"/>
          </a:xfrm>
          <a:prstGeom prst="rect">
            <a:avLst/>
          </a:prstGeom>
          <a:noFill/>
        </p:spPr>
        <p:txBody>
          <a:bodyPr wrap="square">
            <a:spAutoFit/>
          </a:bodyPr>
          <a:lstStyle/>
          <a:p>
            <a:pPr algn="ctr"/>
            <a:r>
              <a:rPr sz="1000" b="0" i="0">
                <a:solidFill>
                  <a:srgbClr val="AAAAAA"/>
                </a:solidFill>
              </a:rPr>
              <a:t>Jeremy drives the open-source SDK, cross-platform
headset compatibility layer, and community modding
framework. He champions the developer ecosystem and
ensures every hacker, hobbyist, and studio can build
on top of Sensational Haptics.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0D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731520"/>
          </a:xfrm>
          <a:prstGeom prst="rect">
            <a:avLst/>
          </a:prstGeom>
          <a:noFill/>
        </p:spPr>
        <p:txBody>
          <a:bodyPr wrap="square">
            <a:spAutoFit/>
          </a:bodyPr>
          <a:lstStyle/>
          <a:p>
            <a:pPr algn="l"/>
            <a:r>
              <a:rPr sz="3200" b="1" i="0">
                <a:solidFill>
                  <a:srgbClr val="00E5FF"/>
                </a:solidFill>
              </a:rPr>
              <a:t>Company Goals</a:t>
            </a:r>
          </a:p>
        </p:txBody>
      </p:sp>
      <p:sp>
        <p:nvSpPr>
          <p:cNvPr id="4" name="Rectangle 3"/>
          <p:cNvSpPr/>
          <p:nvPr/>
        </p:nvSpPr>
        <p:spPr>
          <a:xfrm>
            <a:off x="548640" y="1097280"/>
            <a:ext cx="1097280" cy="38100"/>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645920" y="1097280"/>
            <a:ext cx="1097280" cy="38100"/>
          </a:xfrm>
          <a:prstGeom prst="rect">
            <a:avLst/>
          </a:prstGeom>
          <a:solidFill>
            <a:srgbClr val="7C4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325880"/>
            <a:ext cx="5577840" cy="2148840"/>
          </a:xfrm>
          <a:prstGeom prst="rect">
            <a:avLst/>
          </a:prstGeom>
          <a:solidFill>
            <a:srgbClr val="1A1A3A"/>
          </a:solidFill>
          <a:ln w="9525">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417320"/>
            <a:ext cx="5358384" cy="320040"/>
          </a:xfrm>
          <a:prstGeom prst="rect">
            <a:avLst/>
          </a:prstGeom>
          <a:noFill/>
        </p:spPr>
        <p:txBody>
          <a:bodyPr wrap="square">
            <a:spAutoFit/>
          </a:bodyPr>
          <a:lstStyle/>
          <a:p>
            <a:pPr algn="l"/>
            <a:r>
              <a:rPr sz="1000" b="1" i="0">
                <a:solidFill>
                  <a:srgbClr val="00E5FF"/>
                </a:solidFill>
              </a:rPr>
              <a:t>🎯  Short-Term (Year 1)</a:t>
            </a:r>
          </a:p>
        </p:txBody>
      </p:sp>
      <p:sp>
        <p:nvSpPr>
          <p:cNvPr id="8" name="TextBox 7"/>
          <p:cNvSpPr txBox="1"/>
          <p:nvPr/>
        </p:nvSpPr>
        <p:spPr>
          <a:xfrm>
            <a:off x="566928" y="1709928"/>
            <a:ext cx="5358384" cy="1673352"/>
          </a:xfrm>
          <a:prstGeom prst="rect">
            <a:avLst/>
          </a:prstGeom>
          <a:noFill/>
        </p:spPr>
        <p:txBody>
          <a:bodyPr wrap="square">
            <a:spAutoFit/>
          </a:bodyPr>
          <a:lstStyle/>
          <a:p>
            <a:pPr algn="l"/>
            <a:r>
              <a:rPr sz="900" b="0" i="0">
                <a:solidFill>
                  <a:srgbClr val="AAAAAA"/>
                </a:solidFill>
              </a:rPr>
              <a:t>• Ship 500 Developer Edition units to early backers
• Publish full open-source hardware &amp; firmware on GitHub
• Launch SDK with Meta, SteamVR, PSVR2 &amp; Vive drivers
• Build a Discord community of 5,000+ modders</a:t>
            </a:r>
          </a:p>
        </p:txBody>
      </p:sp>
      <p:sp>
        <p:nvSpPr>
          <p:cNvPr id="9" name="Rectangle 8"/>
          <p:cNvSpPr/>
          <p:nvPr/>
        </p:nvSpPr>
        <p:spPr>
          <a:xfrm>
            <a:off x="6263640" y="1325880"/>
            <a:ext cx="5577840" cy="2148840"/>
          </a:xfrm>
          <a:prstGeom prst="rect">
            <a:avLst/>
          </a:prstGeom>
          <a:solidFill>
            <a:srgbClr val="1A1A3A"/>
          </a:solidFill>
          <a:ln w="9525">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73368" y="1417320"/>
            <a:ext cx="5358384" cy="320040"/>
          </a:xfrm>
          <a:prstGeom prst="rect">
            <a:avLst/>
          </a:prstGeom>
          <a:noFill/>
        </p:spPr>
        <p:txBody>
          <a:bodyPr wrap="square">
            <a:spAutoFit/>
          </a:bodyPr>
          <a:lstStyle/>
          <a:p>
            <a:pPr algn="l"/>
            <a:r>
              <a:rPr sz="1000" b="1" i="0">
                <a:solidFill>
                  <a:srgbClr val="00E5FF"/>
                </a:solidFill>
              </a:rPr>
              <a:t>📈  Mid-Term (Years 2–3)</a:t>
            </a:r>
          </a:p>
        </p:txBody>
      </p:sp>
      <p:sp>
        <p:nvSpPr>
          <p:cNvPr id="11" name="TextBox 10"/>
          <p:cNvSpPr txBox="1"/>
          <p:nvPr/>
        </p:nvSpPr>
        <p:spPr>
          <a:xfrm>
            <a:off x="6373368" y="1709928"/>
            <a:ext cx="5358384" cy="1673352"/>
          </a:xfrm>
          <a:prstGeom prst="rect">
            <a:avLst/>
          </a:prstGeom>
          <a:noFill/>
        </p:spPr>
        <p:txBody>
          <a:bodyPr wrap="square">
            <a:spAutoFit/>
          </a:bodyPr>
          <a:lstStyle/>
          <a:p>
            <a:pPr algn="l"/>
            <a:r>
              <a:rPr sz="900" b="0" i="0">
                <a:solidFill>
                  <a:srgbClr val="AAAAAA"/>
                </a:solidFill>
              </a:rPr>
              <a:t>• Retail launch via Amazon, Best Buy, and VR specialty stores
• Partner with 3 major VR game studios for native haptic support
• Release Gen-2 gloves with temperature &amp; texture simulation
• Reach $1 M ARR through hardware + accessory sales</a:t>
            </a:r>
          </a:p>
        </p:txBody>
      </p:sp>
      <p:sp>
        <p:nvSpPr>
          <p:cNvPr id="12" name="Rectangle 11"/>
          <p:cNvSpPr/>
          <p:nvPr/>
        </p:nvSpPr>
        <p:spPr>
          <a:xfrm>
            <a:off x="457200" y="3657600"/>
            <a:ext cx="5577840" cy="2148840"/>
          </a:xfrm>
          <a:prstGeom prst="rect">
            <a:avLst/>
          </a:prstGeom>
          <a:solidFill>
            <a:srgbClr val="1A1A3A"/>
          </a:solidFill>
          <a:ln w="9525">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3749040"/>
            <a:ext cx="5358384" cy="320040"/>
          </a:xfrm>
          <a:prstGeom prst="rect">
            <a:avLst/>
          </a:prstGeom>
          <a:noFill/>
        </p:spPr>
        <p:txBody>
          <a:bodyPr wrap="square">
            <a:spAutoFit/>
          </a:bodyPr>
          <a:lstStyle/>
          <a:p>
            <a:pPr algn="l"/>
            <a:r>
              <a:rPr sz="1000" b="1" i="0">
                <a:solidFill>
                  <a:srgbClr val="00E5FF"/>
                </a:solidFill>
              </a:rPr>
              <a:t>🚀  Long-Term (Years 4–5)</a:t>
            </a:r>
          </a:p>
        </p:txBody>
      </p:sp>
      <p:sp>
        <p:nvSpPr>
          <p:cNvPr id="14" name="TextBox 13"/>
          <p:cNvSpPr txBox="1"/>
          <p:nvPr/>
        </p:nvSpPr>
        <p:spPr>
          <a:xfrm>
            <a:off x="566928" y="4041648"/>
            <a:ext cx="5358384" cy="1673352"/>
          </a:xfrm>
          <a:prstGeom prst="rect">
            <a:avLst/>
          </a:prstGeom>
          <a:noFill/>
        </p:spPr>
        <p:txBody>
          <a:bodyPr wrap="square">
            <a:spAutoFit/>
          </a:bodyPr>
          <a:lstStyle/>
          <a:p>
            <a:pPr algn="l"/>
            <a:r>
              <a:rPr sz="900" b="0" i="0">
                <a:solidFill>
                  <a:srgbClr val="AAAAAA"/>
                </a:solidFill>
              </a:rPr>
              <a:t>• Become the de-facto open haptic standard for VR/AR
• License IP to enterprise (medical training, military sim)
• Expand to full-body haptic suit ecosystem
• Establish a non-profit foundation for haptic accessibility</a:t>
            </a:r>
          </a:p>
        </p:txBody>
      </p:sp>
      <p:sp>
        <p:nvSpPr>
          <p:cNvPr id="15" name="Rectangle 14"/>
          <p:cNvSpPr/>
          <p:nvPr/>
        </p:nvSpPr>
        <p:spPr>
          <a:xfrm>
            <a:off x="6263640" y="3657600"/>
            <a:ext cx="5577840" cy="2148840"/>
          </a:xfrm>
          <a:prstGeom prst="rect">
            <a:avLst/>
          </a:prstGeom>
          <a:solidFill>
            <a:srgbClr val="1A1A3A"/>
          </a:solidFill>
          <a:ln w="9525">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73368" y="3749040"/>
            <a:ext cx="5358384" cy="320040"/>
          </a:xfrm>
          <a:prstGeom prst="rect">
            <a:avLst/>
          </a:prstGeom>
          <a:noFill/>
        </p:spPr>
        <p:txBody>
          <a:bodyPr wrap="square">
            <a:spAutoFit/>
          </a:bodyPr>
          <a:lstStyle/>
          <a:p>
            <a:pPr algn="l"/>
            <a:r>
              <a:rPr sz="1000" b="1" i="0">
                <a:solidFill>
                  <a:srgbClr val="FF4081"/>
                </a:solidFill>
              </a:rPr>
              <a:t>🌍  Core Values</a:t>
            </a:r>
          </a:p>
        </p:txBody>
      </p:sp>
      <p:sp>
        <p:nvSpPr>
          <p:cNvPr id="17" name="TextBox 16"/>
          <p:cNvSpPr txBox="1"/>
          <p:nvPr/>
        </p:nvSpPr>
        <p:spPr>
          <a:xfrm>
            <a:off x="6373368" y="4041648"/>
            <a:ext cx="5358384" cy="1673352"/>
          </a:xfrm>
          <a:prstGeom prst="rect">
            <a:avLst/>
          </a:prstGeom>
          <a:noFill/>
        </p:spPr>
        <p:txBody>
          <a:bodyPr wrap="square">
            <a:spAutoFit/>
          </a:bodyPr>
          <a:lstStyle/>
          <a:p>
            <a:pPr algn="l"/>
            <a:r>
              <a:rPr sz="900" b="0" i="0">
                <a:solidFill>
                  <a:srgbClr val="AAAAAA"/>
                </a:solidFill>
              </a:rPr>
              <a:t>• Open Source First — hardware schematics &amp; code always public
• Accessibility — affordable price point for everyone
• Community — modders &amp; developers shape the roadmap
• Innovation — continuous hardware iteration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0D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731520"/>
          </a:xfrm>
          <a:prstGeom prst="rect">
            <a:avLst/>
          </a:prstGeom>
          <a:noFill/>
        </p:spPr>
        <p:txBody>
          <a:bodyPr wrap="square">
            <a:spAutoFit/>
          </a:bodyPr>
          <a:lstStyle/>
          <a:p>
            <a:pPr algn="l"/>
            <a:r>
              <a:rPr sz="3200" b="1" i="0">
                <a:solidFill>
                  <a:srgbClr val="00E5FF"/>
                </a:solidFill>
              </a:rPr>
              <a:t>The Product</a:t>
            </a:r>
          </a:p>
        </p:txBody>
      </p:sp>
      <p:sp>
        <p:nvSpPr>
          <p:cNvPr id="4" name="Rectangle 3"/>
          <p:cNvSpPr/>
          <p:nvPr/>
        </p:nvSpPr>
        <p:spPr>
          <a:xfrm>
            <a:off x="548640" y="1097280"/>
            <a:ext cx="1097280" cy="38100"/>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645920" y="1097280"/>
            <a:ext cx="1097280" cy="38100"/>
          </a:xfrm>
          <a:prstGeom prst="rect">
            <a:avLst/>
          </a:prstGeom>
          <a:solidFill>
            <a:srgbClr val="7C4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88720"/>
            <a:ext cx="10972800" cy="411480"/>
          </a:xfrm>
          <a:prstGeom prst="rect">
            <a:avLst/>
          </a:prstGeom>
          <a:noFill/>
        </p:spPr>
        <p:txBody>
          <a:bodyPr wrap="square">
            <a:spAutoFit/>
          </a:bodyPr>
          <a:lstStyle/>
          <a:p>
            <a:pPr algn="l"/>
            <a:r>
              <a:rPr sz="1200" b="0" i="0">
                <a:solidFill>
                  <a:srgbClr val="AAAAAA"/>
                </a:solidFill>
              </a:rPr>
              <a:t>Open-Source VR Haptic Gloves</a:t>
            </a:r>
          </a:p>
        </p:txBody>
      </p:sp>
      <p:sp>
        <p:nvSpPr>
          <p:cNvPr id="7" name="Rectangle 6"/>
          <p:cNvSpPr/>
          <p:nvPr/>
        </p:nvSpPr>
        <p:spPr>
          <a:xfrm>
            <a:off x="502920" y="1325880"/>
            <a:ext cx="1554480" cy="292608"/>
          </a:xfrm>
          <a:prstGeom prst="rect">
            <a:avLst/>
          </a:prstGeom>
          <a:solidFill>
            <a:srgbClr val="001A22"/>
          </a:solidFill>
          <a:ln w="9525">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353312"/>
            <a:ext cx="1463040" cy="228600"/>
          </a:xfrm>
          <a:prstGeom prst="rect">
            <a:avLst/>
          </a:prstGeom>
          <a:noFill/>
        </p:spPr>
        <p:txBody>
          <a:bodyPr wrap="square">
            <a:spAutoFit/>
          </a:bodyPr>
          <a:lstStyle/>
          <a:p>
            <a:pPr algn="ctr"/>
            <a:r>
              <a:rPr sz="800" b="0" i="0">
                <a:solidFill>
                  <a:srgbClr val="00E5FF"/>
                </a:solidFill>
              </a:rPr>
              <a:t>ESP32 MCU</a:t>
            </a:r>
          </a:p>
        </p:txBody>
      </p:sp>
      <p:sp>
        <p:nvSpPr>
          <p:cNvPr id="9" name="Rectangle 8"/>
          <p:cNvSpPr/>
          <p:nvPr/>
        </p:nvSpPr>
        <p:spPr>
          <a:xfrm>
            <a:off x="2194560" y="1325880"/>
            <a:ext cx="1554480" cy="292608"/>
          </a:xfrm>
          <a:prstGeom prst="rect">
            <a:avLst/>
          </a:prstGeom>
          <a:solidFill>
            <a:srgbClr val="001A22"/>
          </a:solidFill>
          <a:ln w="9525">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40280" y="1353312"/>
            <a:ext cx="1463040" cy="228600"/>
          </a:xfrm>
          <a:prstGeom prst="rect">
            <a:avLst/>
          </a:prstGeom>
          <a:noFill/>
        </p:spPr>
        <p:txBody>
          <a:bodyPr wrap="square">
            <a:spAutoFit/>
          </a:bodyPr>
          <a:lstStyle/>
          <a:p>
            <a:pPr algn="ctr"/>
            <a:r>
              <a:rPr sz="800" b="0" i="0">
                <a:solidFill>
                  <a:srgbClr val="00E5FF"/>
                </a:solidFill>
              </a:rPr>
              <a:t>ERM/LRA Motors</a:t>
            </a:r>
          </a:p>
        </p:txBody>
      </p:sp>
      <p:sp>
        <p:nvSpPr>
          <p:cNvPr id="11" name="Rectangle 10"/>
          <p:cNvSpPr/>
          <p:nvPr/>
        </p:nvSpPr>
        <p:spPr>
          <a:xfrm>
            <a:off x="3886200" y="1325880"/>
            <a:ext cx="1554480" cy="292608"/>
          </a:xfrm>
          <a:prstGeom prst="rect">
            <a:avLst/>
          </a:prstGeom>
          <a:solidFill>
            <a:srgbClr val="001A22"/>
          </a:solidFill>
          <a:ln w="9525">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931920" y="1353312"/>
            <a:ext cx="1463040" cy="228600"/>
          </a:xfrm>
          <a:prstGeom prst="rect">
            <a:avLst/>
          </a:prstGeom>
          <a:noFill/>
        </p:spPr>
        <p:txBody>
          <a:bodyPr wrap="square">
            <a:spAutoFit/>
          </a:bodyPr>
          <a:lstStyle/>
          <a:p>
            <a:pPr algn="ctr"/>
            <a:r>
              <a:rPr sz="800" b="0" i="0">
                <a:solidFill>
                  <a:srgbClr val="00E5FF"/>
                </a:solidFill>
              </a:rPr>
              <a:t>IR Finger Tracking</a:t>
            </a:r>
          </a:p>
        </p:txBody>
      </p:sp>
      <p:sp>
        <p:nvSpPr>
          <p:cNvPr id="13" name="Rectangle 12"/>
          <p:cNvSpPr/>
          <p:nvPr/>
        </p:nvSpPr>
        <p:spPr>
          <a:xfrm>
            <a:off x="5577840" y="1325880"/>
            <a:ext cx="1554480" cy="292608"/>
          </a:xfrm>
          <a:prstGeom prst="rect">
            <a:avLst/>
          </a:prstGeom>
          <a:solidFill>
            <a:srgbClr val="001A22"/>
          </a:solidFill>
          <a:ln w="9525">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23560" y="1353312"/>
            <a:ext cx="1463040" cy="228600"/>
          </a:xfrm>
          <a:prstGeom prst="rect">
            <a:avLst/>
          </a:prstGeom>
          <a:noFill/>
        </p:spPr>
        <p:txBody>
          <a:bodyPr wrap="square">
            <a:spAutoFit/>
          </a:bodyPr>
          <a:lstStyle/>
          <a:p>
            <a:pPr algn="ctr"/>
            <a:r>
              <a:rPr sz="800" b="0" i="0">
                <a:solidFill>
                  <a:srgbClr val="00E5FF"/>
                </a:solidFill>
              </a:rPr>
              <a:t>Flex Sensors</a:t>
            </a:r>
          </a:p>
        </p:txBody>
      </p:sp>
      <p:sp>
        <p:nvSpPr>
          <p:cNvPr id="15" name="Rectangle 14"/>
          <p:cNvSpPr/>
          <p:nvPr/>
        </p:nvSpPr>
        <p:spPr>
          <a:xfrm>
            <a:off x="7269480" y="1325880"/>
            <a:ext cx="1554480" cy="292608"/>
          </a:xfrm>
          <a:prstGeom prst="rect">
            <a:avLst/>
          </a:prstGeom>
          <a:solidFill>
            <a:srgbClr val="001A22"/>
          </a:solidFill>
          <a:ln w="9525">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0" y="1353312"/>
            <a:ext cx="1463040" cy="228600"/>
          </a:xfrm>
          <a:prstGeom prst="rect">
            <a:avLst/>
          </a:prstGeom>
          <a:noFill/>
        </p:spPr>
        <p:txBody>
          <a:bodyPr wrap="square">
            <a:spAutoFit/>
          </a:bodyPr>
          <a:lstStyle/>
          <a:p>
            <a:pPr algn="ctr"/>
            <a:r>
              <a:rPr sz="800" b="0" i="0">
                <a:solidFill>
                  <a:srgbClr val="00E5FF"/>
                </a:solidFill>
              </a:rPr>
              <a:t>BLE 5.0</a:t>
            </a:r>
          </a:p>
        </p:txBody>
      </p:sp>
      <p:sp>
        <p:nvSpPr>
          <p:cNvPr id="17" name="Rectangle 16"/>
          <p:cNvSpPr/>
          <p:nvPr/>
        </p:nvSpPr>
        <p:spPr>
          <a:xfrm>
            <a:off x="8961120" y="1325880"/>
            <a:ext cx="1554480" cy="292608"/>
          </a:xfrm>
          <a:prstGeom prst="rect">
            <a:avLst/>
          </a:prstGeom>
          <a:solidFill>
            <a:srgbClr val="001A22"/>
          </a:solidFill>
          <a:ln w="9525">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06840" y="1353312"/>
            <a:ext cx="1463040" cy="228600"/>
          </a:xfrm>
          <a:prstGeom prst="rect">
            <a:avLst/>
          </a:prstGeom>
          <a:noFill/>
        </p:spPr>
        <p:txBody>
          <a:bodyPr wrap="square">
            <a:spAutoFit/>
          </a:bodyPr>
          <a:lstStyle/>
          <a:p>
            <a:pPr algn="ctr"/>
            <a:r>
              <a:rPr sz="800" b="0" i="0">
                <a:solidFill>
                  <a:srgbClr val="00E5FF"/>
                </a:solidFill>
              </a:rPr>
              <a:t>USB-C Charging</a:t>
            </a:r>
          </a:p>
        </p:txBody>
      </p:sp>
      <p:sp>
        <p:nvSpPr>
          <p:cNvPr id="19" name="Rectangle 18"/>
          <p:cNvSpPr/>
          <p:nvPr/>
        </p:nvSpPr>
        <p:spPr>
          <a:xfrm>
            <a:off x="502920" y="1783080"/>
            <a:ext cx="1554480" cy="292608"/>
          </a:xfrm>
          <a:prstGeom prst="rect">
            <a:avLst/>
          </a:prstGeom>
          <a:solidFill>
            <a:srgbClr val="001A22"/>
          </a:solidFill>
          <a:ln w="9525">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1810512"/>
            <a:ext cx="1463040" cy="228600"/>
          </a:xfrm>
          <a:prstGeom prst="rect">
            <a:avLst/>
          </a:prstGeom>
          <a:noFill/>
        </p:spPr>
        <p:txBody>
          <a:bodyPr wrap="square">
            <a:spAutoFit/>
          </a:bodyPr>
          <a:lstStyle/>
          <a:p>
            <a:pPr algn="ctr"/>
            <a:r>
              <a:rPr sz="800" b="0" i="0">
                <a:solidFill>
                  <a:srgbClr val="00E5FF"/>
                </a:solidFill>
              </a:rPr>
              <a:t>Meta</a:t>
            </a:r>
          </a:p>
        </p:txBody>
      </p:sp>
      <p:sp>
        <p:nvSpPr>
          <p:cNvPr id="21" name="Rectangle 20"/>
          <p:cNvSpPr/>
          <p:nvPr/>
        </p:nvSpPr>
        <p:spPr>
          <a:xfrm>
            <a:off x="2194560" y="1783080"/>
            <a:ext cx="1554480" cy="292608"/>
          </a:xfrm>
          <a:prstGeom prst="rect">
            <a:avLst/>
          </a:prstGeom>
          <a:solidFill>
            <a:srgbClr val="001A22"/>
          </a:solidFill>
          <a:ln w="9525">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240280" y="1810512"/>
            <a:ext cx="1463040" cy="228600"/>
          </a:xfrm>
          <a:prstGeom prst="rect">
            <a:avLst/>
          </a:prstGeom>
          <a:noFill/>
        </p:spPr>
        <p:txBody>
          <a:bodyPr wrap="square">
            <a:spAutoFit/>
          </a:bodyPr>
          <a:lstStyle/>
          <a:p>
            <a:pPr algn="ctr"/>
            <a:r>
              <a:rPr sz="800" b="0" i="0">
                <a:solidFill>
                  <a:srgbClr val="00E5FF"/>
                </a:solidFill>
              </a:rPr>
              <a:t>SteamVR</a:t>
            </a:r>
          </a:p>
        </p:txBody>
      </p:sp>
      <p:sp>
        <p:nvSpPr>
          <p:cNvPr id="23" name="Rectangle 22"/>
          <p:cNvSpPr/>
          <p:nvPr/>
        </p:nvSpPr>
        <p:spPr>
          <a:xfrm>
            <a:off x="3886200" y="1783080"/>
            <a:ext cx="1554480" cy="292608"/>
          </a:xfrm>
          <a:prstGeom prst="rect">
            <a:avLst/>
          </a:prstGeom>
          <a:solidFill>
            <a:srgbClr val="001A22"/>
          </a:solidFill>
          <a:ln w="9525">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931920" y="1810512"/>
            <a:ext cx="1463040" cy="228600"/>
          </a:xfrm>
          <a:prstGeom prst="rect">
            <a:avLst/>
          </a:prstGeom>
          <a:noFill/>
        </p:spPr>
        <p:txBody>
          <a:bodyPr wrap="square">
            <a:spAutoFit/>
          </a:bodyPr>
          <a:lstStyle/>
          <a:p>
            <a:pPr algn="ctr"/>
            <a:r>
              <a:rPr sz="800" b="0" i="0">
                <a:solidFill>
                  <a:srgbClr val="00E5FF"/>
                </a:solidFill>
              </a:rPr>
              <a:t>PSVR2</a:t>
            </a:r>
          </a:p>
        </p:txBody>
      </p:sp>
      <p:sp>
        <p:nvSpPr>
          <p:cNvPr id="25" name="Rectangle 24"/>
          <p:cNvSpPr/>
          <p:nvPr/>
        </p:nvSpPr>
        <p:spPr>
          <a:xfrm>
            <a:off x="5577840" y="1783080"/>
            <a:ext cx="1554480" cy="292608"/>
          </a:xfrm>
          <a:prstGeom prst="rect">
            <a:avLst/>
          </a:prstGeom>
          <a:solidFill>
            <a:srgbClr val="001A22"/>
          </a:solidFill>
          <a:ln w="9525">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23560" y="1810512"/>
            <a:ext cx="1463040" cy="228600"/>
          </a:xfrm>
          <a:prstGeom prst="rect">
            <a:avLst/>
          </a:prstGeom>
          <a:noFill/>
        </p:spPr>
        <p:txBody>
          <a:bodyPr wrap="square">
            <a:spAutoFit/>
          </a:bodyPr>
          <a:lstStyle/>
          <a:p>
            <a:pPr algn="ctr"/>
            <a:r>
              <a:rPr sz="800" b="0" i="0">
                <a:solidFill>
                  <a:srgbClr val="00E5FF"/>
                </a:solidFill>
              </a:rPr>
              <a:t>Vive</a:t>
            </a:r>
          </a:p>
        </p:txBody>
      </p:sp>
      <p:sp>
        <p:nvSpPr>
          <p:cNvPr id="27" name="Rectangle 26"/>
          <p:cNvSpPr/>
          <p:nvPr/>
        </p:nvSpPr>
        <p:spPr>
          <a:xfrm>
            <a:off x="7269480" y="1783080"/>
            <a:ext cx="1554480" cy="292608"/>
          </a:xfrm>
          <a:prstGeom prst="rect">
            <a:avLst/>
          </a:prstGeom>
          <a:solidFill>
            <a:srgbClr val="001A22"/>
          </a:solidFill>
          <a:ln w="9525">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15200" y="1810512"/>
            <a:ext cx="1463040" cy="228600"/>
          </a:xfrm>
          <a:prstGeom prst="rect">
            <a:avLst/>
          </a:prstGeom>
          <a:noFill/>
        </p:spPr>
        <p:txBody>
          <a:bodyPr wrap="square">
            <a:spAutoFit/>
          </a:bodyPr>
          <a:lstStyle/>
          <a:p>
            <a:pPr algn="ctr"/>
            <a:r>
              <a:rPr sz="800" b="0" i="0">
                <a:solidFill>
                  <a:srgbClr val="00E5FF"/>
                </a:solidFill>
              </a:rPr>
              <a:t>Open Hardware</a:t>
            </a:r>
          </a:p>
        </p:txBody>
      </p:sp>
      <p:sp>
        <p:nvSpPr>
          <p:cNvPr id="29" name="Rectangle 28"/>
          <p:cNvSpPr/>
          <p:nvPr/>
        </p:nvSpPr>
        <p:spPr>
          <a:xfrm>
            <a:off x="8961120" y="1783080"/>
            <a:ext cx="1554480" cy="292608"/>
          </a:xfrm>
          <a:prstGeom prst="rect">
            <a:avLst/>
          </a:prstGeom>
          <a:solidFill>
            <a:srgbClr val="001A22"/>
          </a:solidFill>
          <a:ln w="9525">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006840" y="1810512"/>
            <a:ext cx="1463040" cy="228600"/>
          </a:xfrm>
          <a:prstGeom prst="rect">
            <a:avLst/>
          </a:prstGeom>
          <a:noFill/>
        </p:spPr>
        <p:txBody>
          <a:bodyPr wrap="square">
            <a:spAutoFit/>
          </a:bodyPr>
          <a:lstStyle/>
          <a:p>
            <a:pPr algn="ctr"/>
            <a:r>
              <a:rPr sz="800" b="0" i="0">
                <a:solidFill>
                  <a:srgbClr val="00E5FF"/>
                </a:solidFill>
              </a:rPr>
              <a:t>Mod Support</a:t>
            </a:r>
          </a:p>
        </p:txBody>
      </p:sp>
      <p:sp>
        <p:nvSpPr>
          <p:cNvPr id="31" name="Rectangle 30"/>
          <p:cNvSpPr/>
          <p:nvPr/>
        </p:nvSpPr>
        <p:spPr>
          <a:xfrm>
            <a:off x="457200" y="2331720"/>
            <a:ext cx="3657600" cy="3749039"/>
          </a:xfrm>
          <a:prstGeom prst="rect">
            <a:avLst/>
          </a:prstGeom>
          <a:solidFill>
            <a:srgbClr val="1A1A3A"/>
          </a:solidFill>
          <a:ln w="9525">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66928" y="2423160"/>
            <a:ext cx="3438144" cy="320040"/>
          </a:xfrm>
          <a:prstGeom prst="rect">
            <a:avLst/>
          </a:prstGeom>
          <a:noFill/>
        </p:spPr>
        <p:txBody>
          <a:bodyPr wrap="square">
            <a:spAutoFit/>
          </a:bodyPr>
          <a:lstStyle/>
          <a:p>
            <a:pPr algn="l"/>
            <a:r>
              <a:rPr sz="1000" b="1" i="0">
                <a:solidFill>
                  <a:srgbClr val="00E5FF"/>
                </a:solidFill>
              </a:rPr>
              <a:t>🎯  Purpose</a:t>
            </a:r>
          </a:p>
        </p:txBody>
      </p:sp>
      <p:sp>
        <p:nvSpPr>
          <p:cNvPr id="33" name="TextBox 32"/>
          <p:cNvSpPr txBox="1"/>
          <p:nvPr/>
        </p:nvSpPr>
        <p:spPr>
          <a:xfrm>
            <a:off x="566928" y="2715768"/>
            <a:ext cx="3438144" cy="3273551"/>
          </a:xfrm>
          <a:prstGeom prst="rect">
            <a:avLst/>
          </a:prstGeom>
          <a:noFill/>
        </p:spPr>
        <p:txBody>
          <a:bodyPr wrap="square">
            <a:spAutoFit/>
          </a:bodyPr>
          <a:lstStyle/>
          <a:p>
            <a:pPr algn="l"/>
            <a:r>
              <a:rPr sz="900" b="0" i="0">
                <a:solidFill>
                  <a:srgbClr val="AAAAAA"/>
                </a:solidFill>
              </a:rPr>
              <a:t>Restore the sense of touch in virtual reality.
Current VR controllers provide buttons and vibration.
Our gloves provide nuanced, localized haptic
sensations on every finger — true immersion.</a:t>
            </a:r>
          </a:p>
        </p:txBody>
      </p:sp>
      <p:sp>
        <p:nvSpPr>
          <p:cNvPr id="34" name="Rectangle 33"/>
          <p:cNvSpPr/>
          <p:nvPr/>
        </p:nvSpPr>
        <p:spPr>
          <a:xfrm>
            <a:off x="4297680" y="2331720"/>
            <a:ext cx="3657600" cy="3749039"/>
          </a:xfrm>
          <a:prstGeom prst="rect">
            <a:avLst/>
          </a:prstGeom>
          <a:solidFill>
            <a:srgbClr val="1A1A3A"/>
          </a:solidFill>
          <a:ln w="9525">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407408" y="2423160"/>
            <a:ext cx="3438144" cy="320040"/>
          </a:xfrm>
          <a:prstGeom prst="rect">
            <a:avLst/>
          </a:prstGeom>
          <a:noFill/>
        </p:spPr>
        <p:txBody>
          <a:bodyPr wrap="square">
            <a:spAutoFit/>
          </a:bodyPr>
          <a:lstStyle/>
          <a:p>
            <a:pPr algn="l"/>
            <a:r>
              <a:rPr sz="1000" b="1" i="0">
                <a:solidFill>
                  <a:srgbClr val="00E5FF"/>
                </a:solidFill>
              </a:rPr>
              <a:t>⚙️  Functions</a:t>
            </a:r>
          </a:p>
        </p:txBody>
      </p:sp>
      <p:sp>
        <p:nvSpPr>
          <p:cNvPr id="36" name="TextBox 35"/>
          <p:cNvSpPr txBox="1"/>
          <p:nvPr/>
        </p:nvSpPr>
        <p:spPr>
          <a:xfrm>
            <a:off x="4407408" y="2715768"/>
            <a:ext cx="3438144" cy="3273551"/>
          </a:xfrm>
          <a:prstGeom prst="rect">
            <a:avLst/>
          </a:prstGeom>
          <a:noFill/>
        </p:spPr>
        <p:txBody>
          <a:bodyPr wrap="square">
            <a:spAutoFit/>
          </a:bodyPr>
          <a:lstStyle/>
          <a:p>
            <a:pPr algn="l"/>
            <a:r>
              <a:rPr sz="900" b="0" i="0">
                <a:solidFill>
                  <a:srgbClr val="AAAAAA"/>
                </a:solidFill>
              </a:rPr>
              <a:t>• Per-finger vibrotactile feedback
• IR-based hand &amp; finger tracking
• Flex-sensor grip detection
• USB-C + BLE 5.0 connectivity
• Open SDK for custom haptic patterns
• Cross-platform headset support</a:t>
            </a:r>
          </a:p>
        </p:txBody>
      </p:sp>
      <p:sp>
        <p:nvSpPr>
          <p:cNvPr id="37" name="Rectangle 36"/>
          <p:cNvSpPr/>
          <p:nvPr/>
        </p:nvSpPr>
        <p:spPr>
          <a:xfrm>
            <a:off x="8138160" y="2331720"/>
            <a:ext cx="3566160" cy="3749039"/>
          </a:xfrm>
          <a:prstGeom prst="rect">
            <a:avLst/>
          </a:prstGeom>
          <a:solidFill>
            <a:srgbClr val="1A1A3A"/>
          </a:solidFill>
          <a:ln w="9525">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47888" y="2423160"/>
            <a:ext cx="3346704" cy="320040"/>
          </a:xfrm>
          <a:prstGeom prst="rect">
            <a:avLst/>
          </a:prstGeom>
          <a:noFill/>
        </p:spPr>
        <p:txBody>
          <a:bodyPr wrap="square">
            <a:spAutoFit/>
          </a:bodyPr>
          <a:lstStyle/>
          <a:p>
            <a:pPr algn="l"/>
            <a:r>
              <a:rPr sz="1000" b="1" i="0">
                <a:solidFill>
                  <a:srgbClr val="FF4081"/>
                </a:solidFill>
              </a:rPr>
              <a:t>💡  The Need</a:t>
            </a:r>
          </a:p>
        </p:txBody>
      </p:sp>
      <p:sp>
        <p:nvSpPr>
          <p:cNvPr id="39" name="TextBox 38"/>
          <p:cNvSpPr txBox="1"/>
          <p:nvPr/>
        </p:nvSpPr>
        <p:spPr>
          <a:xfrm>
            <a:off x="8247888" y="2715768"/>
            <a:ext cx="3346704" cy="3273551"/>
          </a:xfrm>
          <a:prstGeom prst="rect">
            <a:avLst/>
          </a:prstGeom>
          <a:noFill/>
        </p:spPr>
        <p:txBody>
          <a:bodyPr wrap="square">
            <a:spAutoFit/>
          </a:bodyPr>
          <a:lstStyle/>
          <a:p>
            <a:pPr algn="l"/>
            <a:r>
              <a:rPr sz="900" b="0" i="0">
                <a:solidFill>
                  <a:srgbClr val="AAAAAA"/>
                </a:solidFill>
              </a:rPr>
              <a:t>The global VR haptics market is projected
to reach $5.9 B by 2027.
No affordable, open-source solution exists.
We fill that gap.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0D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731520"/>
          </a:xfrm>
          <a:prstGeom prst="rect">
            <a:avLst/>
          </a:prstGeom>
          <a:noFill/>
        </p:spPr>
        <p:txBody>
          <a:bodyPr wrap="square">
            <a:spAutoFit/>
          </a:bodyPr>
          <a:lstStyle/>
          <a:p>
            <a:pPr algn="l"/>
            <a:r>
              <a:rPr sz="3200" b="1" i="0">
                <a:solidFill>
                  <a:srgbClr val="00E5FF"/>
                </a:solidFill>
              </a:rPr>
              <a:t>Place</a:t>
            </a:r>
          </a:p>
        </p:txBody>
      </p:sp>
      <p:sp>
        <p:nvSpPr>
          <p:cNvPr id="4" name="Rectangle 3"/>
          <p:cNvSpPr/>
          <p:nvPr/>
        </p:nvSpPr>
        <p:spPr>
          <a:xfrm>
            <a:off x="548640" y="1097280"/>
            <a:ext cx="1097280" cy="38100"/>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645920" y="1097280"/>
            <a:ext cx="1097280" cy="38100"/>
          </a:xfrm>
          <a:prstGeom prst="rect">
            <a:avLst/>
          </a:prstGeom>
          <a:solidFill>
            <a:srgbClr val="7C4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88720"/>
            <a:ext cx="10972800" cy="411480"/>
          </a:xfrm>
          <a:prstGeom prst="rect">
            <a:avLst/>
          </a:prstGeom>
          <a:noFill/>
        </p:spPr>
        <p:txBody>
          <a:bodyPr wrap="square">
            <a:spAutoFit/>
          </a:bodyPr>
          <a:lstStyle/>
          <a:p>
            <a:pPr algn="l"/>
            <a:r>
              <a:rPr sz="1200" b="0" i="0">
                <a:solidFill>
                  <a:srgbClr val="AAAAAA"/>
                </a:solidFill>
              </a:rPr>
              <a:t>Where Will the Product Be Sold?</a:t>
            </a:r>
          </a:p>
        </p:txBody>
      </p:sp>
      <p:sp>
        <p:nvSpPr>
          <p:cNvPr id="7" name="Rectangle 6"/>
          <p:cNvSpPr/>
          <p:nvPr/>
        </p:nvSpPr>
        <p:spPr>
          <a:xfrm>
            <a:off x="457200" y="1417320"/>
            <a:ext cx="5394960" cy="2194560"/>
          </a:xfrm>
          <a:prstGeom prst="rect">
            <a:avLst/>
          </a:prstGeom>
          <a:solidFill>
            <a:srgbClr val="1A1A3A"/>
          </a:solidFill>
          <a:ln w="9525">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508760"/>
            <a:ext cx="5175504" cy="320040"/>
          </a:xfrm>
          <a:prstGeom prst="rect">
            <a:avLst/>
          </a:prstGeom>
          <a:noFill/>
        </p:spPr>
        <p:txBody>
          <a:bodyPr wrap="square">
            <a:spAutoFit/>
          </a:bodyPr>
          <a:lstStyle/>
          <a:p>
            <a:pPr algn="l"/>
            <a:r>
              <a:rPr sz="1000" b="1" i="0">
                <a:solidFill>
                  <a:srgbClr val="00E5FF"/>
                </a:solidFill>
              </a:rPr>
              <a:t>🌐  Online – Direct-to-Consumer</a:t>
            </a:r>
          </a:p>
        </p:txBody>
      </p:sp>
      <p:sp>
        <p:nvSpPr>
          <p:cNvPr id="9" name="TextBox 8"/>
          <p:cNvSpPr txBox="1"/>
          <p:nvPr/>
        </p:nvSpPr>
        <p:spPr>
          <a:xfrm>
            <a:off x="566928" y="1801368"/>
            <a:ext cx="5175504" cy="1719072"/>
          </a:xfrm>
          <a:prstGeom prst="rect">
            <a:avLst/>
          </a:prstGeom>
          <a:noFill/>
        </p:spPr>
        <p:txBody>
          <a:bodyPr wrap="square">
            <a:spAutoFit/>
          </a:bodyPr>
          <a:lstStyle/>
          <a:p>
            <a:pPr algn="l"/>
            <a:r>
              <a:rPr sz="900" b="0" i="0">
                <a:solidFill>
                  <a:srgbClr val="AAAAAA"/>
                </a:solidFill>
              </a:rPr>
              <a:t>• SensationalHaptics.io — flagship storefront, community
  forum, and docs
• Amazon — broadest global reach, Prime fulfillment
• Kickstarter / Crowd Supply — launch crowdfunding
  for Developer Edition</a:t>
            </a:r>
          </a:p>
        </p:txBody>
      </p:sp>
      <p:sp>
        <p:nvSpPr>
          <p:cNvPr id="10" name="Rectangle 9"/>
          <p:cNvSpPr/>
          <p:nvPr/>
        </p:nvSpPr>
        <p:spPr>
          <a:xfrm>
            <a:off x="6126480" y="1417320"/>
            <a:ext cx="5577840" cy="2194560"/>
          </a:xfrm>
          <a:prstGeom prst="rect">
            <a:avLst/>
          </a:prstGeom>
          <a:solidFill>
            <a:srgbClr val="1A1A3A"/>
          </a:solidFill>
          <a:ln w="9525">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36208" y="1508760"/>
            <a:ext cx="5358384" cy="320040"/>
          </a:xfrm>
          <a:prstGeom prst="rect">
            <a:avLst/>
          </a:prstGeom>
          <a:noFill/>
        </p:spPr>
        <p:txBody>
          <a:bodyPr wrap="square">
            <a:spAutoFit/>
          </a:bodyPr>
          <a:lstStyle/>
          <a:p>
            <a:pPr algn="l"/>
            <a:r>
              <a:rPr sz="1000" b="1" i="0">
                <a:solidFill>
                  <a:srgbClr val="00E5FF"/>
                </a:solidFill>
              </a:rPr>
              <a:t>🏪  Retail &amp; Specialty</a:t>
            </a:r>
          </a:p>
        </p:txBody>
      </p:sp>
      <p:sp>
        <p:nvSpPr>
          <p:cNvPr id="12" name="TextBox 11"/>
          <p:cNvSpPr txBox="1"/>
          <p:nvPr/>
        </p:nvSpPr>
        <p:spPr>
          <a:xfrm>
            <a:off x="6236208" y="1801368"/>
            <a:ext cx="5358384" cy="1719072"/>
          </a:xfrm>
          <a:prstGeom prst="rect">
            <a:avLst/>
          </a:prstGeom>
          <a:noFill/>
        </p:spPr>
        <p:txBody>
          <a:bodyPr wrap="square">
            <a:spAutoFit/>
          </a:bodyPr>
          <a:lstStyle/>
          <a:p>
            <a:pPr algn="l"/>
            <a:r>
              <a:rPr sz="900" b="0" i="0">
                <a:solidFill>
                  <a:srgbClr val="AAAAAA"/>
                </a:solidFill>
              </a:rPr>
              <a:t>• Best Buy / Micro Center — consumer electronics shelf space
• VR-focused stores — VRLA Expo, VR boutiques
• Maker / hacker channels — Adafruit, SparkFun
  for the DIY kit</a:t>
            </a:r>
          </a:p>
        </p:txBody>
      </p:sp>
      <p:sp>
        <p:nvSpPr>
          <p:cNvPr id="13" name="Rectangle 12"/>
          <p:cNvSpPr/>
          <p:nvPr/>
        </p:nvSpPr>
        <p:spPr>
          <a:xfrm>
            <a:off x="457200" y="3794760"/>
            <a:ext cx="11247120" cy="2331720"/>
          </a:xfrm>
          <a:prstGeom prst="rect">
            <a:avLst/>
          </a:prstGeom>
          <a:solidFill>
            <a:srgbClr val="1A1A3A"/>
          </a:solidFill>
          <a:ln w="9525">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3886200"/>
            <a:ext cx="11027664" cy="320040"/>
          </a:xfrm>
          <a:prstGeom prst="rect">
            <a:avLst/>
          </a:prstGeom>
          <a:noFill/>
        </p:spPr>
        <p:txBody>
          <a:bodyPr wrap="square">
            <a:spAutoFit/>
          </a:bodyPr>
          <a:lstStyle/>
          <a:p>
            <a:pPr algn="l"/>
            <a:r>
              <a:rPr sz="1000" b="1" i="0">
                <a:solidFill>
                  <a:srgbClr val="7C4DFF"/>
                </a:solidFill>
              </a:rPr>
              <a:t>🤝  B2B &amp; Developer Channels</a:t>
            </a:r>
          </a:p>
        </p:txBody>
      </p:sp>
      <p:sp>
        <p:nvSpPr>
          <p:cNvPr id="15" name="TextBox 14"/>
          <p:cNvSpPr txBox="1"/>
          <p:nvPr/>
        </p:nvSpPr>
        <p:spPr>
          <a:xfrm>
            <a:off x="566928" y="4178808"/>
            <a:ext cx="11027664" cy="1856232"/>
          </a:xfrm>
          <a:prstGeom prst="rect">
            <a:avLst/>
          </a:prstGeom>
          <a:noFill/>
        </p:spPr>
        <p:txBody>
          <a:bodyPr wrap="square">
            <a:spAutoFit/>
          </a:bodyPr>
          <a:lstStyle/>
          <a:p>
            <a:pPr algn="l"/>
            <a:r>
              <a:rPr sz="900" b="0" i="0">
                <a:solidFill>
                  <a:srgbClr val="AAAAAA"/>
                </a:solidFill>
              </a:rPr>
              <a:t>University labs, VR arcades, and enterprise training providers can purchase bulk developer kits
directly through our website with volume discounts.
Game studios receive free dev units in exchange for native haptic integration.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0D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731520"/>
          </a:xfrm>
          <a:prstGeom prst="rect">
            <a:avLst/>
          </a:prstGeom>
          <a:noFill/>
        </p:spPr>
        <p:txBody>
          <a:bodyPr wrap="square">
            <a:spAutoFit/>
          </a:bodyPr>
          <a:lstStyle/>
          <a:p>
            <a:pPr algn="l"/>
            <a:r>
              <a:rPr sz="3200" b="1" i="0">
                <a:solidFill>
                  <a:srgbClr val="00E5FF"/>
                </a:solidFill>
              </a:rPr>
              <a:t>Price</a:t>
            </a:r>
          </a:p>
        </p:txBody>
      </p:sp>
      <p:sp>
        <p:nvSpPr>
          <p:cNvPr id="4" name="Rectangle 3"/>
          <p:cNvSpPr/>
          <p:nvPr/>
        </p:nvSpPr>
        <p:spPr>
          <a:xfrm>
            <a:off x="548640" y="1097280"/>
            <a:ext cx="1097280" cy="38100"/>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645920" y="1097280"/>
            <a:ext cx="1097280" cy="38100"/>
          </a:xfrm>
          <a:prstGeom prst="rect">
            <a:avLst/>
          </a:prstGeom>
          <a:solidFill>
            <a:srgbClr val="7C4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371600"/>
            <a:ext cx="1920240" cy="347472"/>
          </a:xfrm>
          <a:prstGeom prst="rect">
            <a:avLst/>
          </a:prstGeom>
          <a:solidFill>
            <a:srgbClr val="001A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1417320"/>
            <a:ext cx="1828800" cy="274320"/>
          </a:xfrm>
          <a:prstGeom prst="rect">
            <a:avLst/>
          </a:prstGeom>
          <a:noFill/>
        </p:spPr>
        <p:txBody>
          <a:bodyPr wrap="square">
            <a:spAutoFit/>
          </a:bodyPr>
          <a:lstStyle/>
          <a:p>
            <a:pPr algn="l"/>
            <a:r>
              <a:rPr sz="900" b="1" i="0">
                <a:solidFill>
                  <a:srgbClr val="00E5FF"/>
                </a:solidFill>
              </a:rPr>
              <a:t>Tier</a:t>
            </a:r>
          </a:p>
        </p:txBody>
      </p:sp>
      <p:sp>
        <p:nvSpPr>
          <p:cNvPr id="8" name="Rectangle 7"/>
          <p:cNvSpPr/>
          <p:nvPr/>
        </p:nvSpPr>
        <p:spPr>
          <a:xfrm>
            <a:off x="2423160" y="1371600"/>
            <a:ext cx="1097280" cy="347472"/>
          </a:xfrm>
          <a:prstGeom prst="rect">
            <a:avLst/>
          </a:prstGeom>
          <a:solidFill>
            <a:srgbClr val="001A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496312" y="1417320"/>
            <a:ext cx="1005840" cy="274320"/>
          </a:xfrm>
          <a:prstGeom prst="rect">
            <a:avLst/>
          </a:prstGeom>
          <a:noFill/>
        </p:spPr>
        <p:txBody>
          <a:bodyPr wrap="square">
            <a:spAutoFit/>
          </a:bodyPr>
          <a:lstStyle/>
          <a:p>
            <a:pPr algn="l"/>
            <a:r>
              <a:rPr sz="900" b="1" i="0">
                <a:solidFill>
                  <a:srgbClr val="00E5FF"/>
                </a:solidFill>
              </a:rPr>
              <a:t>Price</a:t>
            </a:r>
          </a:p>
        </p:txBody>
      </p:sp>
      <p:sp>
        <p:nvSpPr>
          <p:cNvPr id="10" name="Rectangle 9"/>
          <p:cNvSpPr/>
          <p:nvPr/>
        </p:nvSpPr>
        <p:spPr>
          <a:xfrm>
            <a:off x="3566160" y="1371600"/>
            <a:ext cx="4572000" cy="347472"/>
          </a:xfrm>
          <a:prstGeom prst="rect">
            <a:avLst/>
          </a:prstGeom>
          <a:solidFill>
            <a:srgbClr val="001A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39312" y="1417320"/>
            <a:ext cx="4480560" cy="274320"/>
          </a:xfrm>
          <a:prstGeom prst="rect">
            <a:avLst/>
          </a:prstGeom>
          <a:noFill/>
        </p:spPr>
        <p:txBody>
          <a:bodyPr wrap="square">
            <a:spAutoFit/>
          </a:bodyPr>
          <a:lstStyle/>
          <a:p>
            <a:pPr algn="l"/>
            <a:r>
              <a:rPr sz="900" b="1" i="0">
                <a:solidFill>
                  <a:srgbClr val="00E5FF"/>
                </a:solidFill>
              </a:rPr>
              <a:t>What's Included</a:t>
            </a:r>
          </a:p>
        </p:txBody>
      </p:sp>
      <p:sp>
        <p:nvSpPr>
          <p:cNvPr id="12" name="Rectangle 11"/>
          <p:cNvSpPr/>
          <p:nvPr/>
        </p:nvSpPr>
        <p:spPr>
          <a:xfrm>
            <a:off x="8229600" y="1371600"/>
            <a:ext cx="4114800" cy="347472"/>
          </a:xfrm>
          <a:prstGeom prst="rect">
            <a:avLst/>
          </a:prstGeom>
          <a:solidFill>
            <a:srgbClr val="001A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02752" y="1417320"/>
            <a:ext cx="4023360" cy="274320"/>
          </a:xfrm>
          <a:prstGeom prst="rect">
            <a:avLst/>
          </a:prstGeom>
          <a:noFill/>
        </p:spPr>
        <p:txBody>
          <a:bodyPr wrap="square">
            <a:spAutoFit/>
          </a:bodyPr>
          <a:lstStyle/>
          <a:p>
            <a:pPr algn="l"/>
            <a:r>
              <a:rPr sz="900" b="1" i="0">
                <a:solidFill>
                  <a:srgbClr val="00E5FF"/>
                </a:solidFill>
              </a:rPr>
              <a:t>Rationale</a:t>
            </a:r>
          </a:p>
        </p:txBody>
      </p:sp>
      <p:sp>
        <p:nvSpPr>
          <p:cNvPr id="14" name="Rectangle 13"/>
          <p:cNvSpPr/>
          <p:nvPr/>
        </p:nvSpPr>
        <p:spPr>
          <a:xfrm>
            <a:off x="457200" y="1719072"/>
            <a:ext cx="1920240" cy="640080"/>
          </a:xfrm>
          <a:prstGeom prst="rect">
            <a:avLst/>
          </a:prstGeom>
          <a:solidFill>
            <a:srgbClr val="1A1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0352" y="1792224"/>
            <a:ext cx="1828800" cy="548640"/>
          </a:xfrm>
          <a:prstGeom prst="rect">
            <a:avLst/>
          </a:prstGeom>
          <a:noFill/>
        </p:spPr>
        <p:txBody>
          <a:bodyPr wrap="square">
            <a:spAutoFit/>
          </a:bodyPr>
          <a:lstStyle/>
          <a:p>
            <a:pPr algn="l"/>
            <a:r>
              <a:rPr sz="900" b="0" i="0">
                <a:solidFill>
                  <a:srgbClr val="FFFFFF"/>
                </a:solidFill>
              </a:rPr>
              <a:t>DIY Kit</a:t>
            </a:r>
          </a:p>
        </p:txBody>
      </p:sp>
      <p:sp>
        <p:nvSpPr>
          <p:cNvPr id="16" name="Rectangle 15"/>
          <p:cNvSpPr/>
          <p:nvPr/>
        </p:nvSpPr>
        <p:spPr>
          <a:xfrm>
            <a:off x="2423160" y="1719072"/>
            <a:ext cx="1097280" cy="640080"/>
          </a:xfrm>
          <a:prstGeom prst="rect">
            <a:avLst/>
          </a:prstGeom>
          <a:solidFill>
            <a:srgbClr val="1A1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496312" y="1792224"/>
            <a:ext cx="1005840" cy="548640"/>
          </a:xfrm>
          <a:prstGeom prst="rect">
            <a:avLst/>
          </a:prstGeom>
          <a:noFill/>
        </p:spPr>
        <p:txBody>
          <a:bodyPr wrap="square">
            <a:spAutoFit/>
          </a:bodyPr>
          <a:lstStyle/>
          <a:p>
            <a:pPr algn="l"/>
            <a:r>
              <a:rPr sz="900" b="0" i="0">
                <a:solidFill>
                  <a:srgbClr val="AAAAAA"/>
                </a:solidFill>
              </a:rPr>
              <a:t>$79</a:t>
            </a:r>
          </a:p>
        </p:txBody>
      </p:sp>
      <p:sp>
        <p:nvSpPr>
          <p:cNvPr id="18" name="Rectangle 17"/>
          <p:cNvSpPr/>
          <p:nvPr/>
        </p:nvSpPr>
        <p:spPr>
          <a:xfrm>
            <a:off x="3566160" y="1719072"/>
            <a:ext cx="4572000" cy="640080"/>
          </a:xfrm>
          <a:prstGeom prst="rect">
            <a:avLst/>
          </a:prstGeom>
          <a:solidFill>
            <a:srgbClr val="1A1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39312" y="1792224"/>
            <a:ext cx="4480560" cy="548640"/>
          </a:xfrm>
          <a:prstGeom prst="rect">
            <a:avLst/>
          </a:prstGeom>
          <a:noFill/>
        </p:spPr>
        <p:txBody>
          <a:bodyPr wrap="square">
            <a:spAutoFit/>
          </a:bodyPr>
          <a:lstStyle/>
          <a:p>
            <a:pPr algn="l"/>
            <a:r>
              <a:rPr sz="900" b="0" i="0">
                <a:solidFill>
                  <a:srgbClr val="AAAAAA"/>
                </a:solidFill>
              </a:rPr>
              <a:t>PCB, ESP32, motors, IR sensors, 3D-print files</a:t>
            </a:r>
          </a:p>
        </p:txBody>
      </p:sp>
      <p:sp>
        <p:nvSpPr>
          <p:cNvPr id="20" name="Rectangle 19"/>
          <p:cNvSpPr/>
          <p:nvPr/>
        </p:nvSpPr>
        <p:spPr>
          <a:xfrm>
            <a:off x="8229600" y="1719072"/>
            <a:ext cx="4114800" cy="640080"/>
          </a:xfrm>
          <a:prstGeom prst="rect">
            <a:avLst/>
          </a:prstGeom>
          <a:solidFill>
            <a:srgbClr val="1A1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02752" y="1792224"/>
            <a:ext cx="4023360" cy="548640"/>
          </a:xfrm>
          <a:prstGeom prst="rect">
            <a:avLst/>
          </a:prstGeom>
          <a:noFill/>
        </p:spPr>
        <p:txBody>
          <a:bodyPr wrap="square">
            <a:spAutoFit/>
          </a:bodyPr>
          <a:lstStyle/>
          <a:p>
            <a:pPr algn="l"/>
            <a:r>
              <a:rPr sz="900" b="0" i="0">
                <a:solidFill>
                  <a:srgbClr val="AAAAAA"/>
                </a:solidFill>
              </a:rPr>
              <a:t>Covers BOM cost + small margin; builds community</a:t>
            </a:r>
          </a:p>
        </p:txBody>
      </p:sp>
      <p:sp>
        <p:nvSpPr>
          <p:cNvPr id="22" name="Rectangle 21"/>
          <p:cNvSpPr/>
          <p:nvPr/>
        </p:nvSpPr>
        <p:spPr>
          <a:xfrm>
            <a:off x="457200" y="2359152"/>
            <a:ext cx="1920240" cy="640080"/>
          </a:xfrm>
          <a:prstGeom prst="rect">
            <a:avLst/>
          </a:prstGeom>
          <a:solidFill>
            <a:srgbClr val="161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30352" y="2432304"/>
            <a:ext cx="1828800" cy="548640"/>
          </a:xfrm>
          <a:prstGeom prst="rect">
            <a:avLst/>
          </a:prstGeom>
          <a:noFill/>
        </p:spPr>
        <p:txBody>
          <a:bodyPr wrap="square">
            <a:spAutoFit/>
          </a:bodyPr>
          <a:lstStyle/>
          <a:p>
            <a:pPr algn="l"/>
            <a:r>
              <a:rPr sz="900" b="0" i="0">
                <a:solidFill>
                  <a:srgbClr val="FFFFFF"/>
                </a:solidFill>
              </a:rPr>
              <a:t>Standard Edition</a:t>
            </a:r>
          </a:p>
        </p:txBody>
      </p:sp>
      <p:sp>
        <p:nvSpPr>
          <p:cNvPr id="24" name="Rectangle 23"/>
          <p:cNvSpPr/>
          <p:nvPr/>
        </p:nvSpPr>
        <p:spPr>
          <a:xfrm>
            <a:off x="2423160" y="2359152"/>
            <a:ext cx="1097280" cy="640080"/>
          </a:xfrm>
          <a:prstGeom prst="rect">
            <a:avLst/>
          </a:prstGeom>
          <a:solidFill>
            <a:srgbClr val="161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496312" y="2432304"/>
            <a:ext cx="1005840" cy="548640"/>
          </a:xfrm>
          <a:prstGeom prst="rect">
            <a:avLst/>
          </a:prstGeom>
          <a:noFill/>
        </p:spPr>
        <p:txBody>
          <a:bodyPr wrap="square">
            <a:spAutoFit/>
          </a:bodyPr>
          <a:lstStyle/>
          <a:p>
            <a:pPr algn="l"/>
            <a:r>
              <a:rPr sz="900" b="0" i="0">
                <a:solidFill>
                  <a:srgbClr val="AAAAAA"/>
                </a:solidFill>
              </a:rPr>
              <a:t>$149</a:t>
            </a:r>
          </a:p>
        </p:txBody>
      </p:sp>
      <p:sp>
        <p:nvSpPr>
          <p:cNvPr id="26" name="Rectangle 25"/>
          <p:cNvSpPr/>
          <p:nvPr/>
        </p:nvSpPr>
        <p:spPr>
          <a:xfrm>
            <a:off x="3566160" y="2359152"/>
            <a:ext cx="4572000" cy="640080"/>
          </a:xfrm>
          <a:prstGeom prst="rect">
            <a:avLst/>
          </a:prstGeom>
          <a:solidFill>
            <a:srgbClr val="161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639312" y="2432304"/>
            <a:ext cx="4480560" cy="548640"/>
          </a:xfrm>
          <a:prstGeom prst="rect">
            <a:avLst/>
          </a:prstGeom>
          <a:noFill/>
        </p:spPr>
        <p:txBody>
          <a:bodyPr wrap="square">
            <a:spAutoFit/>
          </a:bodyPr>
          <a:lstStyle/>
          <a:p>
            <a:pPr algn="l"/>
            <a:r>
              <a:rPr sz="900" b="0" i="0">
                <a:solidFill>
                  <a:srgbClr val="AAAAAA"/>
                </a:solidFill>
              </a:rPr>
              <a:t>Assembled gloves, USB-C cable, quick-start guide</a:t>
            </a:r>
          </a:p>
        </p:txBody>
      </p:sp>
      <p:sp>
        <p:nvSpPr>
          <p:cNvPr id="28" name="Rectangle 27"/>
          <p:cNvSpPr/>
          <p:nvPr/>
        </p:nvSpPr>
        <p:spPr>
          <a:xfrm>
            <a:off x="8229600" y="2359152"/>
            <a:ext cx="4114800" cy="640080"/>
          </a:xfrm>
          <a:prstGeom prst="rect">
            <a:avLst/>
          </a:prstGeom>
          <a:solidFill>
            <a:srgbClr val="161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02752" y="2432304"/>
            <a:ext cx="4023360" cy="548640"/>
          </a:xfrm>
          <a:prstGeom prst="rect">
            <a:avLst/>
          </a:prstGeom>
          <a:noFill/>
        </p:spPr>
        <p:txBody>
          <a:bodyPr wrap="square">
            <a:spAutoFit/>
          </a:bodyPr>
          <a:lstStyle/>
          <a:p>
            <a:pPr algn="l"/>
            <a:r>
              <a:rPr sz="900" b="0" i="0">
                <a:solidFill>
                  <a:srgbClr val="AAAAAA"/>
                </a:solidFill>
              </a:rPr>
              <a:t>Sub-$200 sweet spot; 3× cheaper than bHaptics ($500)</a:t>
            </a:r>
          </a:p>
        </p:txBody>
      </p:sp>
      <p:sp>
        <p:nvSpPr>
          <p:cNvPr id="30" name="Rectangle 29"/>
          <p:cNvSpPr/>
          <p:nvPr/>
        </p:nvSpPr>
        <p:spPr>
          <a:xfrm>
            <a:off x="457200" y="2999232"/>
            <a:ext cx="1920240" cy="640080"/>
          </a:xfrm>
          <a:prstGeom prst="rect">
            <a:avLst/>
          </a:prstGeom>
          <a:solidFill>
            <a:srgbClr val="1A1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30352" y="3072384"/>
            <a:ext cx="1828800" cy="548640"/>
          </a:xfrm>
          <a:prstGeom prst="rect">
            <a:avLst/>
          </a:prstGeom>
          <a:noFill/>
        </p:spPr>
        <p:txBody>
          <a:bodyPr wrap="square">
            <a:spAutoFit/>
          </a:bodyPr>
          <a:lstStyle/>
          <a:p>
            <a:pPr algn="l"/>
            <a:r>
              <a:rPr sz="900" b="0" i="0">
                <a:solidFill>
                  <a:srgbClr val="FFFFFF"/>
                </a:solidFill>
              </a:rPr>
              <a:t>Developer Edition</a:t>
            </a:r>
          </a:p>
        </p:txBody>
      </p:sp>
      <p:sp>
        <p:nvSpPr>
          <p:cNvPr id="32" name="Rectangle 31"/>
          <p:cNvSpPr/>
          <p:nvPr/>
        </p:nvSpPr>
        <p:spPr>
          <a:xfrm>
            <a:off x="2423160" y="2999232"/>
            <a:ext cx="1097280" cy="640080"/>
          </a:xfrm>
          <a:prstGeom prst="rect">
            <a:avLst/>
          </a:prstGeom>
          <a:solidFill>
            <a:srgbClr val="1A1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496312" y="3072384"/>
            <a:ext cx="1005840" cy="548640"/>
          </a:xfrm>
          <a:prstGeom prst="rect">
            <a:avLst/>
          </a:prstGeom>
          <a:noFill/>
        </p:spPr>
        <p:txBody>
          <a:bodyPr wrap="square">
            <a:spAutoFit/>
          </a:bodyPr>
          <a:lstStyle/>
          <a:p>
            <a:pPr algn="l"/>
            <a:r>
              <a:rPr sz="900" b="0" i="0">
                <a:solidFill>
                  <a:srgbClr val="AAAAAA"/>
                </a:solidFill>
              </a:rPr>
              <a:t>$199</a:t>
            </a:r>
          </a:p>
        </p:txBody>
      </p:sp>
      <p:sp>
        <p:nvSpPr>
          <p:cNvPr id="34" name="Rectangle 33"/>
          <p:cNvSpPr/>
          <p:nvPr/>
        </p:nvSpPr>
        <p:spPr>
          <a:xfrm>
            <a:off x="3566160" y="2999232"/>
            <a:ext cx="4572000" cy="640080"/>
          </a:xfrm>
          <a:prstGeom prst="rect">
            <a:avLst/>
          </a:prstGeom>
          <a:solidFill>
            <a:srgbClr val="1A1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639312" y="3072384"/>
            <a:ext cx="4480560" cy="548640"/>
          </a:xfrm>
          <a:prstGeom prst="rect">
            <a:avLst/>
          </a:prstGeom>
          <a:noFill/>
        </p:spPr>
        <p:txBody>
          <a:bodyPr wrap="square">
            <a:spAutoFit/>
          </a:bodyPr>
          <a:lstStyle/>
          <a:p>
            <a:pPr algn="l"/>
            <a:r>
              <a:rPr sz="900" b="0" i="0">
                <a:solidFill>
                  <a:srgbClr val="AAAAAA"/>
                </a:solidFill>
              </a:rPr>
              <a:t>Assembled + full SDK, priority support, mod toolkit</a:t>
            </a:r>
          </a:p>
        </p:txBody>
      </p:sp>
      <p:sp>
        <p:nvSpPr>
          <p:cNvPr id="36" name="Rectangle 35"/>
          <p:cNvSpPr/>
          <p:nvPr/>
        </p:nvSpPr>
        <p:spPr>
          <a:xfrm>
            <a:off x="8229600" y="2999232"/>
            <a:ext cx="4114800" cy="640080"/>
          </a:xfrm>
          <a:prstGeom prst="rect">
            <a:avLst/>
          </a:prstGeom>
          <a:solidFill>
            <a:srgbClr val="1A1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302752" y="3072384"/>
            <a:ext cx="4023360" cy="548640"/>
          </a:xfrm>
          <a:prstGeom prst="rect">
            <a:avLst/>
          </a:prstGeom>
          <a:noFill/>
        </p:spPr>
        <p:txBody>
          <a:bodyPr wrap="square">
            <a:spAutoFit/>
          </a:bodyPr>
          <a:lstStyle/>
          <a:p>
            <a:pPr algn="l"/>
            <a:r>
              <a:rPr sz="900" b="0" i="0">
                <a:solidFill>
                  <a:srgbClr val="AAAAAA"/>
                </a:solidFill>
              </a:rPr>
              <a:t>Premium for studios; 4× cheaper than nearest competitor</a:t>
            </a:r>
          </a:p>
        </p:txBody>
      </p:sp>
      <p:sp>
        <p:nvSpPr>
          <p:cNvPr id="38" name="Rectangle 37"/>
          <p:cNvSpPr/>
          <p:nvPr/>
        </p:nvSpPr>
        <p:spPr>
          <a:xfrm>
            <a:off x="457200" y="3639312"/>
            <a:ext cx="1920240" cy="640080"/>
          </a:xfrm>
          <a:prstGeom prst="rect">
            <a:avLst/>
          </a:prstGeom>
          <a:solidFill>
            <a:srgbClr val="161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30352" y="3712464"/>
            <a:ext cx="1828800" cy="548640"/>
          </a:xfrm>
          <a:prstGeom prst="rect">
            <a:avLst/>
          </a:prstGeom>
          <a:noFill/>
        </p:spPr>
        <p:txBody>
          <a:bodyPr wrap="square">
            <a:spAutoFit/>
          </a:bodyPr>
          <a:lstStyle/>
          <a:p>
            <a:pPr algn="l"/>
            <a:r>
              <a:rPr sz="900" b="0" i="0">
                <a:solidFill>
                  <a:srgbClr val="FFFFFF"/>
                </a:solidFill>
              </a:rPr>
              <a:t>Enterprise Bundle</a:t>
            </a:r>
          </a:p>
        </p:txBody>
      </p:sp>
      <p:sp>
        <p:nvSpPr>
          <p:cNvPr id="40" name="Rectangle 39"/>
          <p:cNvSpPr/>
          <p:nvPr/>
        </p:nvSpPr>
        <p:spPr>
          <a:xfrm>
            <a:off x="2423160" y="3639312"/>
            <a:ext cx="1097280" cy="640080"/>
          </a:xfrm>
          <a:prstGeom prst="rect">
            <a:avLst/>
          </a:prstGeom>
          <a:solidFill>
            <a:srgbClr val="161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496312" y="3712464"/>
            <a:ext cx="1005840" cy="548640"/>
          </a:xfrm>
          <a:prstGeom prst="rect">
            <a:avLst/>
          </a:prstGeom>
          <a:noFill/>
        </p:spPr>
        <p:txBody>
          <a:bodyPr wrap="square">
            <a:spAutoFit/>
          </a:bodyPr>
          <a:lstStyle/>
          <a:p>
            <a:pPr algn="l"/>
            <a:r>
              <a:rPr sz="900" b="0" i="0">
                <a:solidFill>
                  <a:srgbClr val="AAAAAA"/>
                </a:solidFill>
              </a:rPr>
              <a:t>$999/10pk</a:t>
            </a:r>
          </a:p>
        </p:txBody>
      </p:sp>
      <p:sp>
        <p:nvSpPr>
          <p:cNvPr id="42" name="Rectangle 41"/>
          <p:cNvSpPr/>
          <p:nvPr/>
        </p:nvSpPr>
        <p:spPr>
          <a:xfrm>
            <a:off x="3566160" y="3639312"/>
            <a:ext cx="4572000" cy="640080"/>
          </a:xfrm>
          <a:prstGeom prst="rect">
            <a:avLst/>
          </a:prstGeom>
          <a:solidFill>
            <a:srgbClr val="161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639312" y="3712464"/>
            <a:ext cx="4480560" cy="548640"/>
          </a:xfrm>
          <a:prstGeom prst="rect">
            <a:avLst/>
          </a:prstGeom>
          <a:noFill/>
        </p:spPr>
        <p:txBody>
          <a:bodyPr wrap="square">
            <a:spAutoFit/>
          </a:bodyPr>
          <a:lstStyle/>
          <a:p>
            <a:pPr algn="l"/>
            <a:r>
              <a:rPr sz="900" b="0" i="0">
                <a:solidFill>
                  <a:srgbClr val="AAAAAA"/>
                </a:solidFill>
              </a:rPr>
              <a:t>10× Dev Edition + onboarding + SLA support</a:t>
            </a:r>
          </a:p>
        </p:txBody>
      </p:sp>
      <p:sp>
        <p:nvSpPr>
          <p:cNvPr id="44" name="Rectangle 43"/>
          <p:cNvSpPr/>
          <p:nvPr/>
        </p:nvSpPr>
        <p:spPr>
          <a:xfrm>
            <a:off x="8229600" y="3639312"/>
            <a:ext cx="4114800" cy="640080"/>
          </a:xfrm>
          <a:prstGeom prst="rect">
            <a:avLst/>
          </a:prstGeom>
          <a:solidFill>
            <a:srgbClr val="161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302752" y="3712464"/>
            <a:ext cx="4023360" cy="548640"/>
          </a:xfrm>
          <a:prstGeom prst="rect">
            <a:avLst/>
          </a:prstGeom>
          <a:noFill/>
        </p:spPr>
        <p:txBody>
          <a:bodyPr wrap="square">
            <a:spAutoFit/>
          </a:bodyPr>
          <a:lstStyle/>
          <a:p>
            <a:pPr algn="l"/>
            <a:r>
              <a:rPr sz="900" b="0" i="0">
                <a:solidFill>
                  <a:srgbClr val="AAAAAA"/>
                </a:solidFill>
              </a:rPr>
              <a:t>Unlocks B2B segment at volume pricing</a:t>
            </a:r>
          </a:p>
        </p:txBody>
      </p:sp>
      <p:sp>
        <p:nvSpPr>
          <p:cNvPr id="46" name="Rectangle 45"/>
          <p:cNvSpPr/>
          <p:nvPr/>
        </p:nvSpPr>
        <p:spPr>
          <a:xfrm>
            <a:off x="457200" y="4709160"/>
            <a:ext cx="11247120" cy="1417320"/>
          </a:xfrm>
          <a:prstGeom prst="rect">
            <a:avLst/>
          </a:prstGeom>
          <a:solidFill>
            <a:srgbClr val="1A1A3A"/>
          </a:solidFill>
          <a:ln w="9525">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66928" y="4800600"/>
            <a:ext cx="11027664" cy="320040"/>
          </a:xfrm>
          <a:prstGeom prst="rect">
            <a:avLst/>
          </a:prstGeom>
          <a:noFill/>
        </p:spPr>
        <p:txBody>
          <a:bodyPr wrap="square">
            <a:spAutoFit/>
          </a:bodyPr>
          <a:lstStyle/>
          <a:p>
            <a:pPr algn="l"/>
            <a:r>
              <a:rPr sz="1000" b="1" i="0">
                <a:solidFill>
                  <a:srgbClr val="FF4081"/>
                </a:solidFill>
              </a:rPr>
              <a:t>💲  Market Comparison</a:t>
            </a:r>
          </a:p>
        </p:txBody>
      </p:sp>
      <p:sp>
        <p:nvSpPr>
          <p:cNvPr id="48" name="TextBox 47"/>
          <p:cNvSpPr txBox="1"/>
          <p:nvPr/>
        </p:nvSpPr>
        <p:spPr>
          <a:xfrm>
            <a:off x="566928" y="5093208"/>
            <a:ext cx="11027664" cy="941832"/>
          </a:xfrm>
          <a:prstGeom prst="rect">
            <a:avLst/>
          </a:prstGeom>
          <a:noFill/>
        </p:spPr>
        <p:txBody>
          <a:bodyPr wrap="square">
            <a:spAutoFit/>
          </a:bodyPr>
          <a:lstStyle/>
          <a:p>
            <a:pPr algn="l"/>
            <a:r>
              <a:rPr sz="900" b="0" i="0">
                <a:solidFill>
                  <a:srgbClr val="AAAAAA"/>
                </a:solidFill>
              </a:rPr>
              <a:t>bHaptics TactGlove: ~$500   |   HaptX G1: $5,000+   |   Manus VR: $2,000+
Our $149 Standard Edition is the most affordable fully-assembled haptic glove on
the market while remaining fully open-source.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0D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731520"/>
          </a:xfrm>
          <a:prstGeom prst="rect">
            <a:avLst/>
          </a:prstGeom>
          <a:noFill/>
        </p:spPr>
        <p:txBody>
          <a:bodyPr wrap="square">
            <a:spAutoFit/>
          </a:bodyPr>
          <a:lstStyle/>
          <a:p>
            <a:pPr algn="l"/>
            <a:r>
              <a:rPr sz="3200" b="1" i="0">
                <a:solidFill>
                  <a:srgbClr val="00E5FF"/>
                </a:solidFill>
              </a:rPr>
              <a:t>Promotion</a:t>
            </a:r>
          </a:p>
        </p:txBody>
      </p:sp>
      <p:sp>
        <p:nvSpPr>
          <p:cNvPr id="4" name="Rectangle 3"/>
          <p:cNvSpPr/>
          <p:nvPr/>
        </p:nvSpPr>
        <p:spPr>
          <a:xfrm>
            <a:off x="548640" y="1097280"/>
            <a:ext cx="1097280" cy="38100"/>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645920" y="1097280"/>
            <a:ext cx="1097280" cy="38100"/>
          </a:xfrm>
          <a:prstGeom prst="rect">
            <a:avLst/>
          </a:prstGeom>
          <a:solidFill>
            <a:srgbClr val="7C4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88720"/>
            <a:ext cx="10972800" cy="411480"/>
          </a:xfrm>
          <a:prstGeom prst="rect">
            <a:avLst/>
          </a:prstGeom>
          <a:noFill/>
        </p:spPr>
        <p:txBody>
          <a:bodyPr wrap="square">
            <a:spAutoFit/>
          </a:bodyPr>
          <a:lstStyle/>
          <a:p>
            <a:pPr algn="l"/>
            <a:r>
              <a:rPr sz="1200" b="0" i="0">
                <a:solidFill>
                  <a:srgbClr val="AAAAAA"/>
                </a:solidFill>
              </a:rPr>
              <a:t>How We Reach Our Customers</a:t>
            </a:r>
          </a:p>
        </p:txBody>
      </p:sp>
      <p:sp>
        <p:nvSpPr>
          <p:cNvPr id="7" name="Rectangle 6"/>
          <p:cNvSpPr/>
          <p:nvPr/>
        </p:nvSpPr>
        <p:spPr>
          <a:xfrm>
            <a:off x="457200" y="1325880"/>
            <a:ext cx="5394960" cy="2194560"/>
          </a:xfrm>
          <a:prstGeom prst="rect">
            <a:avLst/>
          </a:prstGeom>
          <a:solidFill>
            <a:srgbClr val="1A1A3A"/>
          </a:solidFill>
          <a:ln w="9525">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417320"/>
            <a:ext cx="5175504" cy="320040"/>
          </a:xfrm>
          <a:prstGeom prst="rect">
            <a:avLst/>
          </a:prstGeom>
          <a:noFill/>
        </p:spPr>
        <p:txBody>
          <a:bodyPr wrap="square">
            <a:spAutoFit/>
          </a:bodyPr>
          <a:lstStyle/>
          <a:p>
            <a:pPr algn="l"/>
            <a:r>
              <a:rPr sz="1000" b="1" i="0">
                <a:solidFill>
                  <a:srgbClr val="00E5FF"/>
                </a:solidFill>
              </a:rPr>
              <a:t>📱  Social Media &amp; Content</a:t>
            </a:r>
          </a:p>
        </p:txBody>
      </p:sp>
      <p:sp>
        <p:nvSpPr>
          <p:cNvPr id="9" name="TextBox 8"/>
          <p:cNvSpPr txBox="1"/>
          <p:nvPr/>
        </p:nvSpPr>
        <p:spPr>
          <a:xfrm>
            <a:off x="566928" y="1709928"/>
            <a:ext cx="5175504" cy="1719072"/>
          </a:xfrm>
          <a:prstGeom prst="rect">
            <a:avLst/>
          </a:prstGeom>
          <a:noFill/>
        </p:spPr>
        <p:txBody>
          <a:bodyPr wrap="square">
            <a:spAutoFit/>
          </a:bodyPr>
          <a:lstStyle/>
          <a:p>
            <a:pPr algn="l"/>
            <a:r>
              <a:rPr sz="900" b="0" i="0">
                <a:solidFill>
                  <a:srgbClr val="AAAAAA"/>
                </a:solidFill>
              </a:rPr>
              <a:t>• YouTube / TikTok — first-person haptic reaction clips
• Reddit — r/virtualreality, r/oculus early threads
• Twitter / X — dev log threads &amp; behind-the-scenes builds</a:t>
            </a:r>
          </a:p>
        </p:txBody>
      </p:sp>
      <p:sp>
        <p:nvSpPr>
          <p:cNvPr id="10" name="Rectangle 9"/>
          <p:cNvSpPr/>
          <p:nvPr/>
        </p:nvSpPr>
        <p:spPr>
          <a:xfrm>
            <a:off x="6126480" y="1325880"/>
            <a:ext cx="5577840" cy="2194560"/>
          </a:xfrm>
          <a:prstGeom prst="rect">
            <a:avLst/>
          </a:prstGeom>
          <a:solidFill>
            <a:srgbClr val="1A1A3A"/>
          </a:solidFill>
          <a:ln w="9525">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36208" y="1417320"/>
            <a:ext cx="5358384" cy="320040"/>
          </a:xfrm>
          <a:prstGeom prst="rect">
            <a:avLst/>
          </a:prstGeom>
          <a:noFill/>
        </p:spPr>
        <p:txBody>
          <a:bodyPr wrap="square">
            <a:spAutoFit/>
          </a:bodyPr>
          <a:lstStyle/>
          <a:p>
            <a:pPr algn="l"/>
            <a:r>
              <a:rPr sz="1000" b="1" i="0">
                <a:solidFill>
                  <a:srgbClr val="00E5FF"/>
                </a:solidFill>
              </a:rPr>
              <a:t>🎮  Influencer &amp; Community</a:t>
            </a:r>
          </a:p>
        </p:txBody>
      </p:sp>
      <p:sp>
        <p:nvSpPr>
          <p:cNvPr id="12" name="TextBox 11"/>
          <p:cNvSpPr txBox="1"/>
          <p:nvPr/>
        </p:nvSpPr>
        <p:spPr>
          <a:xfrm>
            <a:off x="6236208" y="1709928"/>
            <a:ext cx="5358384" cy="1719072"/>
          </a:xfrm>
          <a:prstGeom prst="rect">
            <a:avLst/>
          </a:prstGeom>
          <a:noFill/>
        </p:spPr>
        <p:txBody>
          <a:bodyPr wrap="square">
            <a:spAutoFit/>
          </a:bodyPr>
          <a:lstStyle/>
          <a:p>
            <a:pPr algn="l"/>
            <a:r>
              <a:rPr sz="900" b="0" i="0">
                <a:solidFill>
                  <a:srgbClr val="AAAAAA"/>
                </a:solidFill>
              </a:rPr>
              <a:t>• Free units to top VR YouTube &amp; Twitch creators
• Sponsor VR gaming tournaments and LAN events
• Discord community server with modding bounties</a:t>
            </a:r>
          </a:p>
        </p:txBody>
      </p:sp>
      <p:sp>
        <p:nvSpPr>
          <p:cNvPr id="13" name="Rectangle 12"/>
          <p:cNvSpPr/>
          <p:nvPr/>
        </p:nvSpPr>
        <p:spPr>
          <a:xfrm>
            <a:off x="457200" y="3703320"/>
            <a:ext cx="5394960" cy="2377440"/>
          </a:xfrm>
          <a:prstGeom prst="rect">
            <a:avLst/>
          </a:prstGeom>
          <a:solidFill>
            <a:srgbClr val="1A1A3A"/>
          </a:solidFill>
          <a:ln w="9525">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3794760"/>
            <a:ext cx="5175504" cy="320040"/>
          </a:xfrm>
          <a:prstGeom prst="rect">
            <a:avLst/>
          </a:prstGeom>
          <a:noFill/>
        </p:spPr>
        <p:txBody>
          <a:bodyPr wrap="square">
            <a:spAutoFit/>
          </a:bodyPr>
          <a:lstStyle/>
          <a:p>
            <a:pPr algn="l"/>
            <a:r>
              <a:rPr sz="1000" b="1" i="0">
                <a:solidFill>
                  <a:srgbClr val="00E5FF"/>
                </a:solidFill>
              </a:rPr>
              <a:t>🚀  Launch Campaign</a:t>
            </a:r>
          </a:p>
        </p:txBody>
      </p:sp>
      <p:sp>
        <p:nvSpPr>
          <p:cNvPr id="15" name="TextBox 14"/>
          <p:cNvSpPr txBox="1"/>
          <p:nvPr/>
        </p:nvSpPr>
        <p:spPr>
          <a:xfrm>
            <a:off x="566928" y="4087368"/>
            <a:ext cx="5175504" cy="1901952"/>
          </a:xfrm>
          <a:prstGeom prst="rect">
            <a:avLst/>
          </a:prstGeom>
          <a:noFill/>
        </p:spPr>
        <p:txBody>
          <a:bodyPr wrap="square">
            <a:spAutoFit/>
          </a:bodyPr>
          <a:lstStyle/>
          <a:p>
            <a:pPr algn="l"/>
            <a:r>
              <a:rPr sz="900" b="0" i="0">
                <a:solidFill>
                  <a:srgbClr val="AAAAAA"/>
                </a:solidFill>
              </a:rPr>
              <a:t>• Kickstarter with exclusive early-backer pricing
• Press release to Engadget, The Verge, UploadVR
• Demo booth at CES, GDC, and VR/AR Association events</a:t>
            </a:r>
          </a:p>
        </p:txBody>
      </p:sp>
      <p:sp>
        <p:nvSpPr>
          <p:cNvPr id="16" name="Rectangle 15"/>
          <p:cNvSpPr/>
          <p:nvPr/>
        </p:nvSpPr>
        <p:spPr>
          <a:xfrm>
            <a:off x="6126480" y="3703320"/>
            <a:ext cx="5577840" cy="2377440"/>
          </a:xfrm>
          <a:prstGeom prst="rect">
            <a:avLst/>
          </a:prstGeom>
          <a:solidFill>
            <a:srgbClr val="1A1A3A"/>
          </a:solidFill>
          <a:ln w="9525">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36208" y="3794760"/>
            <a:ext cx="5358384" cy="320040"/>
          </a:xfrm>
          <a:prstGeom prst="rect">
            <a:avLst/>
          </a:prstGeom>
          <a:noFill/>
        </p:spPr>
        <p:txBody>
          <a:bodyPr wrap="square">
            <a:spAutoFit/>
          </a:bodyPr>
          <a:lstStyle/>
          <a:p>
            <a:pPr algn="l"/>
            <a:r>
              <a:rPr sz="1000" b="1" i="0">
                <a:solidFill>
                  <a:srgbClr val="00E5FF"/>
                </a:solidFill>
              </a:rPr>
              <a:t>🔧  Open-Source Virality</a:t>
            </a:r>
          </a:p>
        </p:txBody>
      </p:sp>
      <p:sp>
        <p:nvSpPr>
          <p:cNvPr id="18" name="TextBox 17"/>
          <p:cNvSpPr txBox="1"/>
          <p:nvPr/>
        </p:nvSpPr>
        <p:spPr>
          <a:xfrm>
            <a:off x="6236208" y="4087368"/>
            <a:ext cx="5358384" cy="1901952"/>
          </a:xfrm>
          <a:prstGeom prst="rect">
            <a:avLst/>
          </a:prstGeom>
          <a:noFill/>
        </p:spPr>
        <p:txBody>
          <a:bodyPr wrap="square">
            <a:spAutoFit/>
          </a:bodyPr>
          <a:lstStyle/>
          <a:p>
            <a:pPr algn="l"/>
            <a:r>
              <a:rPr sz="900" b="0" i="0">
                <a:solidFill>
                  <a:srgbClr val="AAAAAA"/>
                </a:solidFill>
              </a:rPr>
              <a:t>• GitHub repo with high-quality README attracts organic stars
• Hackster.io &amp; Instructables project features
• University lab partnerships for research citations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0D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731520"/>
          </a:xfrm>
          <a:prstGeom prst="rect">
            <a:avLst/>
          </a:prstGeom>
          <a:noFill/>
        </p:spPr>
        <p:txBody>
          <a:bodyPr wrap="square">
            <a:spAutoFit/>
          </a:bodyPr>
          <a:lstStyle/>
          <a:p>
            <a:pPr algn="l"/>
            <a:r>
              <a:rPr sz="3200" b="1" i="0">
                <a:solidFill>
                  <a:srgbClr val="00E5FF"/>
                </a:solidFill>
              </a:rPr>
              <a:t>Investor Q&amp;A</a:t>
            </a:r>
          </a:p>
        </p:txBody>
      </p:sp>
      <p:sp>
        <p:nvSpPr>
          <p:cNvPr id="4" name="Rectangle 3"/>
          <p:cNvSpPr/>
          <p:nvPr/>
        </p:nvSpPr>
        <p:spPr>
          <a:xfrm>
            <a:off x="548640" y="1097280"/>
            <a:ext cx="1097280" cy="38100"/>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645920" y="1097280"/>
            <a:ext cx="1097280" cy="38100"/>
          </a:xfrm>
          <a:prstGeom prst="rect">
            <a:avLst/>
          </a:prstGeom>
          <a:solidFill>
            <a:srgbClr val="7C4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325880"/>
            <a:ext cx="11247120" cy="749808"/>
          </a:xfrm>
          <a:prstGeom prst="rect">
            <a:avLst/>
          </a:prstGeom>
          <a:solidFill>
            <a:srgbClr val="1A1A3A"/>
          </a:solidFill>
          <a:ln w="9525">
            <a:solidFill>
              <a:srgbClr val="7C4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371600"/>
            <a:ext cx="10972800" cy="256032"/>
          </a:xfrm>
          <a:prstGeom prst="rect">
            <a:avLst/>
          </a:prstGeom>
          <a:noFill/>
        </p:spPr>
        <p:txBody>
          <a:bodyPr wrap="square">
            <a:spAutoFit/>
          </a:bodyPr>
          <a:lstStyle/>
          <a:p>
            <a:pPr algn="l"/>
            <a:r>
              <a:rPr sz="900" b="1" i="0">
                <a:solidFill>
                  <a:srgbClr val="7C4DFF"/>
                </a:solidFill>
              </a:rPr>
              <a:t>Q  How much money are you asking for?</a:t>
            </a:r>
          </a:p>
        </p:txBody>
      </p:sp>
      <p:sp>
        <p:nvSpPr>
          <p:cNvPr id="8" name="TextBox 7"/>
          <p:cNvSpPr txBox="1"/>
          <p:nvPr/>
        </p:nvSpPr>
        <p:spPr>
          <a:xfrm>
            <a:off x="594360" y="1627632"/>
            <a:ext cx="10972800" cy="384048"/>
          </a:xfrm>
          <a:prstGeom prst="rect">
            <a:avLst/>
          </a:prstGeom>
          <a:noFill/>
        </p:spPr>
        <p:txBody>
          <a:bodyPr wrap="square">
            <a:spAutoFit/>
          </a:bodyPr>
          <a:lstStyle/>
          <a:p>
            <a:pPr algn="l"/>
            <a:r>
              <a:rPr sz="900" b="0" i="0">
                <a:solidFill>
                  <a:srgbClr val="AAAAAA"/>
                </a:solidFill>
              </a:rPr>
              <a:t>$75,000 seed funding to cover first-batch production (500 units), tooling, FCC/CE certifications, and 6 months of operating expenses.</a:t>
            </a:r>
          </a:p>
        </p:txBody>
      </p:sp>
      <p:sp>
        <p:nvSpPr>
          <p:cNvPr id="9" name="Rectangle 8"/>
          <p:cNvSpPr/>
          <p:nvPr/>
        </p:nvSpPr>
        <p:spPr>
          <a:xfrm>
            <a:off x="457200" y="2148840"/>
            <a:ext cx="11247120" cy="749808"/>
          </a:xfrm>
          <a:prstGeom prst="rect">
            <a:avLst/>
          </a:prstGeom>
          <a:solidFill>
            <a:srgbClr val="1A1A3A"/>
          </a:solidFill>
          <a:ln w="9525">
            <a:solidFill>
              <a:srgbClr val="7C4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2194560"/>
            <a:ext cx="10972800" cy="256032"/>
          </a:xfrm>
          <a:prstGeom prst="rect">
            <a:avLst/>
          </a:prstGeom>
          <a:noFill/>
        </p:spPr>
        <p:txBody>
          <a:bodyPr wrap="square">
            <a:spAutoFit/>
          </a:bodyPr>
          <a:lstStyle/>
          <a:p>
            <a:pPr algn="l"/>
            <a:r>
              <a:rPr sz="900" b="1" i="0">
                <a:solidFill>
                  <a:srgbClr val="7C4DFF"/>
                </a:solidFill>
              </a:rPr>
              <a:t>Q  What will you use that money for?</a:t>
            </a:r>
          </a:p>
        </p:txBody>
      </p:sp>
      <p:sp>
        <p:nvSpPr>
          <p:cNvPr id="11" name="TextBox 10"/>
          <p:cNvSpPr txBox="1"/>
          <p:nvPr/>
        </p:nvSpPr>
        <p:spPr>
          <a:xfrm>
            <a:off x="594360" y="2450592"/>
            <a:ext cx="10972800" cy="384048"/>
          </a:xfrm>
          <a:prstGeom prst="rect">
            <a:avLst/>
          </a:prstGeom>
          <a:noFill/>
        </p:spPr>
        <p:txBody>
          <a:bodyPr wrap="square">
            <a:spAutoFit/>
          </a:bodyPr>
          <a:lstStyle/>
          <a:p>
            <a:pPr algn="l"/>
            <a:r>
              <a:rPr sz="900" b="0" i="0">
                <a:solidFill>
                  <a:srgbClr val="AAAAAA"/>
                </a:solidFill>
              </a:rPr>
              <a:t>40% Components &amp; PCB fabrication  |  20% Assembly &amp; QA  |  20% Marketing  |  10% FCC/CE &amp; legal  |  10% Reserve</a:t>
            </a:r>
          </a:p>
        </p:txBody>
      </p:sp>
      <p:sp>
        <p:nvSpPr>
          <p:cNvPr id="12" name="Rectangle 11"/>
          <p:cNvSpPr/>
          <p:nvPr/>
        </p:nvSpPr>
        <p:spPr>
          <a:xfrm>
            <a:off x="457200" y="2971800"/>
            <a:ext cx="11247120" cy="749808"/>
          </a:xfrm>
          <a:prstGeom prst="rect">
            <a:avLst/>
          </a:prstGeom>
          <a:solidFill>
            <a:srgbClr val="1A1A3A"/>
          </a:solidFill>
          <a:ln w="9525">
            <a:solidFill>
              <a:srgbClr val="7C4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3017520"/>
            <a:ext cx="10972800" cy="256032"/>
          </a:xfrm>
          <a:prstGeom prst="rect">
            <a:avLst/>
          </a:prstGeom>
          <a:noFill/>
        </p:spPr>
        <p:txBody>
          <a:bodyPr wrap="square">
            <a:spAutoFit/>
          </a:bodyPr>
          <a:lstStyle/>
          <a:p>
            <a:pPr algn="l"/>
            <a:r>
              <a:rPr sz="900" b="1" i="0">
                <a:solidFill>
                  <a:srgbClr val="7C4DFF"/>
                </a:solidFill>
              </a:rPr>
              <a:t>Q  Estimated product cost vs. market price?</a:t>
            </a:r>
          </a:p>
        </p:txBody>
      </p:sp>
      <p:sp>
        <p:nvSpPr>
          <p:cNvPr id="14" name="TextBox 13"/>
          <p:cNvSpPr txBox="1"/>
          <p:nvPr/>
        </p:nvSpPr>
        <p:spPr>
          <a:xfrm>
            <a:off x="594360" y="3273552"/>
            <a:ext cx="10972800" cy="384048"/>
          </a:xfrm>
          <a:prstGeom prst="rect">
            <a:avLst/>
          </a:prstGeom>
          <a:noFill/>
        </p:spPr>
        <p:txBody>
          <a:bodyPr wrap="square">
            <a:spAutoFit/>
          </a:bodyPr>
          <a:lstStyle/>
          <a:p>
            <a:pPr algn="l"/>
            <a:r>
              <a:rPr sz="900" b="0" i="0">
                <a:solidFill>
                  <a:srgbClr val="AAAAAA"/>
                </a:solidFill>
              </a:rPr>
              <a:t>BOM cost ≈ $42 per unit. MSRP $149. Nearest competitor bHaptics TactGlove retails at $500 — we offer 3× better value.</a:t>
            </a:r>
          </a:p>
        </p:txBody>
      </p:sp>
      <p:sp>
        <p:nvSpPr>
          <p:cNvPr id="15" name="Rectangle 14"/>
          <p:cNvSpPr/>
          <p:nvPr/>
        </p:nvSpPr>
        <p:spPr>
          <a:xfrm>
            <a:off x="457200" y="3794760"/>
            <a:ext cx="11247120" cy="749808"/>
          </a:xfrm>
          <a:prstGeom prst="rect">
            <a:avLst/>
          </a:prstGeom>
          <a:solidFill>
            <a:srgbClr val="1A1A3A"/>
          </a:solidFill>
          <a:ln w="9525">
            <a:solidFill>
              <a:srgbClr val="7C4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840480"/>
            <a:ext cx="10972800" cy="256032"/>
          </a:xfrm>
          <a:prstGeom prst="rect">
            <a:avLst/>
          </a:prstGeom>
          <a:noFill/>
        </p:spPr>
        <p:txBody>
          <a:bodyPr wrap="square">
            <a:spAutoFit/>
          </a:bodyPr>
          <a:lstStyle/>
          <a:p>
            <a:pPr algn="l"/>
            <a:r>
              <a:rPr sz="900" b="1" i="0">
                <a:solidFill>
                  <a:srgbClr val="7C4DFF"/>
                </a:solidFill>
              </a:rPr>
              <a:t>Q  Why is your product needed? What is the selling point?</a:t>
            </a:r>
          </a:p>
        </p:txBody>
      </p:sp>
      <p:sp>
        <p:nvSpPr>
          <p:cNvPr id="17" name="TextBox 16"/>
          <p:cNvSpPr txBox="1"/>
          <p:nvPr/>
        </p:nvSpPr>
        <p:spPr>
          <a:xfrm>
            <a:off x="594360" y="4096512"/>
            <a:ext cx="10972800" cy="384048"/>
          </a:xfrm>
          <a:prstGeom prst="rect">
            <a:avLst/>
          </a:prstGeom>
          <a:noFill/>
        </p:spPr>
        <p:txBody>
          <a:bodyPr wrap="square">
            <a:spAutoFit/>
          </a:bodyPr>
          <a:lstStyle/>
          <a:p>
            <a:pPr algn="l"/>
            <a:r>
              <a:rPr sz="900" b="0" i="0">
                <a:solidFill>
                  <a:srgbClr val="AAAAAA"/>
                </a:solidFill>
              </a:rPr>
              <a:t>Existing VR lacks touch — the one sense that creates true immersion. We are the only affordable, open-source, cross-platform haptic glove solution.</a:t>
            </a:r>
          </a:p>
        </p:txBody>
      </p:sp>
      <p:sp>
        <p:nvSpPr>
          <p:cNvPr id="18" name="Rectangle 17"/>
          <p:cNvSpPr/>
          <p:nvPr/>
        </p:nvSpPr>
        <p:spPr>
          <a:xfrm>
            <a:off x="457200" y="4617720"/>
            <a:ext cx="11247120" cy="749808"/>
          </a:xfrm>
          <a:prstGeom prst="rect">
            <a:avLst/>
          </a:prstGeom>
          <a:solidFill>
            <a:srgbClr val="1A1A3A"/>
          </a:solidFill>
          <a:ln w="9525">
            <a:solidFill>
              <a:srgbClr val="7C4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4663440"/>
            <a:ext cx="10972800" cy="256032"/>
          </a:xfrm>
          <a:prstGeom prst="rect">
            <a:avLst/>
          </a:prstGeom>
          <a:noFill/>
        </p:spPr>
        <p:txBody>
          <a:bodyPr wrap="square">
            <a:spAutoFit/>
          </a:bodyPr>
          <a:lstStyle/>
          <a:p>
            <a:pPr algn="l"/>
            <a:r>
              <a:rPr sz="900" b="1" i="0">
                <a:solidFill>
                  <a:srgbClr val="7C4DFF"/>
                </a:solidFill>
              </a:rPr>
              <a:t>Q  Who is your target market? How do you plan to market it?</a:t>
            </a:r>
          </a:p>
        </p:txBody>
      </p:sp>
      <p:sp>
        <p:nvSpPr>
          <p:cNvPr id="20" name="TextBox 19"/>
          <p:cNvSpPr txBox="1"/>
          <p:nvPr/>
        </p:nvSpPr>
        <p:spPr>
          <a:xfrm>
            <a:off x="594360" y="4919472"/>
            <a:ext cx="10972800" cy="384048"/>
          </a:xfrm>
          <a:prstGeom prst="rect">
            <a:avLst/>
          </a:prstGeom>
          <a:noFill/>
        </p:spPr>
        <p:txBody>
          <a:bodyPr wrap="square">
            <a:spAutoFit/>
          </a:bodyPr>
          <a:lstStyle/>
          <a:p>
            <a:pPr algn="l"/>
            <a:r>
              <a:rPr sz="900" b="0" i="0">
                <a:solidFill>
                  <a:srgbClr val="AAAAAA"/>
                </a:solidFill>
              </a:rPr>
              <a:t>Primary: VR enthusiasts (18–35) with existing headsets. Secondary: developers, medical/military trainers. Marketing via influencers, Kickstarter, GitHub, and trade shows.</a:t>
            </a:r>
          </a:p>
        </p:txBody>
      </p:sp>
      <p:sp>
        <p:nvSpPr>
          <p:cNvPr id="21" name="Rectangle 20"/>
          <p:cNvSpPr/>
          <p:nvPr/>
        </p:nvSpPr>
        <p:spPr>
          <a:xfrm>
            <a:off x="457200" y="5440680"/>
            <a:ext cx="11247120" cy="749808"/>
          </a:xfrm>
          <a:prstGeom prst="rect">
            <a:avLst/>
          </a:prstGeom>
          <a:solidFill>
            <a:srgbClr val="1A1A3A"/>
          </a:solidFill>
          <a:ln w="9525">
            <a:solidFill>
              <a:srgbClr val="7C4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4360" y="5486400"/>
            <a:ext cx="10972800" cy="256032"/>
          </a:xfrm>
          <a:prstGeom prst="rect">
            <a:avLst/>
          </a:prstGeom>
          <a:noFill/>
        </p:spPr>
        <p:txBody>
          <a:bodyPr wrap="square">
            <a:spAutoFit/>
          </a:bodyPr>
          <a:lstStyle/>
          <a:p>
            <a:pPr algn="l"/>
            <a:r>
              <a:rPr sz="900" b="1" i="0">
                <a:solidFill>
                  <a:srgbClr val="7C4DFF"/>
                </a:solidFill>
              </a:rPr>
              <a:t>Q  What experience can turn this into an empire?</a:t>
            </a:r>
          </a:p>
        </p:txBody>
      </p:sp>
      <p:sp>
        <p:nvSpPr>
          <p:cNvPr id="23" name="TextBox 22"/>
          <p:cNvSpPr txBox="1"/>
          <p:nvPr/>
        </p:nvSpPr>
        <p:spPr>
          <a:xfrm>
            <a:off x="594360" y="5742432"/>
            <a:ext cx="10972800" cy="384048"/>
          </a:xfrm>
          <a:prstGeom prst="rect">
            <a:avLst/>
          </a:prstGeom>
          <a:noFill/>
        </p:spPr>
        <p:txBody>
          <a:bodyPr wrap="square">
            <a:spAutoFit/>
          </a:bodyPr>
          <a:lstStyle/>
          <a:p>
            <a:pPr algn="l"/>
            <a:r>
              <a:rPr sz="900" b="0" i="0">
                <a:solidFill>
                  <a:srgbClr val="AAAAAA"/>
                </a:solidFill>
              </a:rPr>
              <a:t>Strong brings embedded systems &amp; hardware prototyping depth. Jeremy brings open-source community building &amp; software platform experience. Together we have shipped devices and managed developer ecosystems at scale.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0D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0"/>
            <a:ext cx="11247120" cy="1097280"/>
          </a:xfrm>
          <a:prstGeom prst="rect">
            <a:avLst/>
          </a:prstGeom>
          <a:noFill/>
        </p:spPr>
        <p:txBody>
          <a:bodyPr wrap="square">
            <a:spAutoFit/>
          </a:bodyPr>
          <a:lstStyle/>
          <a:p>
            <a:pPr algn="ctr"/>
            <a:r>
              <a:rPr sz="4800" b="1" i="0">
                <a:solidFill>
                  <a:srgbClr val="00E5FF"/>
                </a:solidFill>
              </a:rPr>
              <a:t>Thank You</a:t>
            </a:r>
          </a:p>
        </p:txBody>
      </p:sp>
      <p:sp>
        <p:nvSpPr>
          <p:cNvPr id="4" name="TextBox 3"/>
          <p:cNvSpPr txBox="1"/>
          <p:nvPr/>
        </p:nvSpPr>
        <p:spPr>
          <a:xfrm>
            <a:off x="457200" y="2514600"/>
            <a:ext cx="11247120" cy="731520"/>
          </a:xfrm>
          <a:prstGeom prst="rect">
            <a:avLst/>
          </a:prstGeom>
          <a:noFill/>
        </p:spPr>
        <p:txBody>
          <a:bodyPr wrap="square">
            <a:spAutoFit/>
          </a:bodyPr>
          <a:lstStyle/>
          <a:p>
            <a:pPr algn="ctr"/>
            <a:r>
              <a:rPr sz="2200" b="0" i="0">
                <a:solidFill>
                  <a:srgbClr val="AAAAAA"/>
                </a:solidFill>
              </a:rPr>
              <a:t>"Feel Every Virtual World."</a:t>
            </a:r>
          </a:p>
        </p:txBody>
      </p:sp>
      <p:sp>
        <p:nvSpPr>
          <p:cNvPr id="5" name="Rectangle 4"/>
          <p:cNvSpPr/>
          <p:nvPr/>
        </p:nvSpPr>
        <p:spPr>
          <a:xfrm>
            <a:off x="4389120" y="3337560"/>
            <a:ext cx="3383280" cy="31750"/>
          </a:xfrm>
          <a:prstGeom prst="rect">
            <a:avLst/>
          </a:prstGeom>
          <a:solidFill>
            <a:srgbClr val="7C4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3520440"/>
            <a:ext cx="10332720" cy="731520"/>
          </a:xfrm>
          <a:prstGeom prst="rect">
            <a:avLst/>
          </a:prstGeom>
          <a:noFill/>
        </p:spPr>
        <p:txBody>
          <a:bodyPr wrap="square">
            <a:spAutoFit/>
          </a:bodyPr>
          <a:lstStyle/>
          <a:p>
            <a:pPr algn="ctr"/>
            <a:r>
              <a:rPr sz="1300" b="0" i="0">
                <a:solidFill>
                  <a:srgbClr val="AAAAAA"/>
                </a:solidFill>
              </a:rPr>
              <a:t>Sensational Haptics — bridging the gap between the virtual and the real,
one glove at a time.</a:t>
            </a:r>
          </a:p>
        </p:txBody>
      </p:sp>
      <p:sp>
        <p:nvSpPr>
          <p:cNvPr id="7" name="TextBox 6"/>
          <p:cNvSpPr txBox="1"/>
          <p:nvPr/>
        </p:nvSpPr>
        <p:spPr>
          <a:xfrm>
            <a:off x="2286000" y="4754880"/>
            <a:ext cx="3200400" cy="411480"/>
          </a:xfrm>
          <a:prstGeom prst="rect">
            <a:avLst/>
          </a:prstGeom>
          <a:noFill/>
        </p:spPr>
        <p:txBody>
          <a:bodyPr wrap="square">
            <a:spAutoFit/>
          </a:bodyPr>
          <a:lstStyle/>
          <a:p>
            <a:pPr algn="ctr"/>
            <a:r>
              <a:rPr sz="1400" b="1" i="0">
                <a:solidFill>
                  <a:srgbClr val="FFFFFF"/>
                </a:solidFill>
              </a:rPr>
              <a:t>Strong Baker</a:t>
            </a:r>
          </a:p>
        </p:txBody>
      </p:sp>
      <p:sp>
        <p:nvSpPr>
          <p:cNvPr id="8" name="TextBox 7"/>
          <p:cNvSpPr txBox="1"/>
          <p:nvPr/>
        </p:nvSpPr>
        <p:spPr>
          <a:xfrm>
            <a:off x="2286000" y="5166360"/>
            <a:ext cx="3200400" cy="320040"/>
          </a:xfrm>
          <a:prstGeom prst="rect">
            <a:avLst/>
          </a:prstGeom>
          <a:noFill/>
        </p:spPr>
        <p:txBody>
          <a:bodyPr wrap="square">
            <a:spAutoFit/>
          </a:bodyPr>
          <a:lstStyle/>
          <a:p>
            <a:pPr algn="ctr"/>
            <a:r>
              <a:rPr sz="1000" b="0" i="0">
                <a:solidFill>
                  <a:srgbClr val="444444"/>
                </a:solidFill>
              </a:rPr>
              <a:t>Co-founder</a:t>
            </a:r>
          </a:p>
        </p:txBody>
      </p:sp>
      <p:sp>
        <p:nvSpPr>
          <p:cNvPr id="9" name="TextBox 8"/>
          <p:cNvSpPr txBox="1"/>
          <p:nvPr/>
        </p:nvSpPr>
        <p:spPr>
          <a:xfrm>
            <a:off x="6675120" y="4754880"/>
            <a:ext cx="3200400" cy="411480"/>
          </a:xfrm>
          <a:prstGeom prst="rect">
            <a:avLst/>
          </a:prstGeom>
          <a:noFill/>
        </p:spPr>
        <p:txBody>
          <a:bodyPr wrap="square">
            <a:spAutoFit/>
          </a:bodyPr>
          <a:lstStyle/>
          <a:p>
            <a:pPr algn="ctr"/>
            <a:r>
              <a:rPr sz="1400" b="1" i="0">
                <a:solidFill>
                  <a:srgbClr val="FFFFFF"/>
                </a:solidFill>
              </a:rPr>
              <a:t>Jeremy Lakey</a:t>
            </a:r>
          </a:p>
        </p:txBody>
      </p:sp>
      <p:sp>
        <p:nvSpPr>
          <p:cNvPr id="10" name="TextBox 9"/>
          <p:cNvSpPr txBox="1"/>
          <p:nvPr/>
        </p:nvSpPr>
        <p:spPr>
          <a:xfrm>
            <a:off x="6675120" y="5166360"/>
            <a:ext cx="3200400" cy="320040"/>
          </a:xfrm>
          <a:prstGeom prst="rect">
            <a:avLst/>
          </a:prstGeom>
          <a:noFill/>
        </p:spPr>
        <p:txBody>
          <a:bodyPr wrap="square">
            <a:spAutoFit/>
          </a:bodyPr>
          <a:lstStyle/>
          <a:p>
            <a:pPr algn="ctr"/>
            <a:r>
              <a:rPr sz="1000" b="0" i="0">
                <a:solidFill>
                  <a:srgbClr val="444444"/>
                </a:solidFill>
              </a:rPr>
              <a:t>Co-founder</a:t>
            </a:r>
          </a:p>
        </p:txBody>
      </p:sp>
      <p:sp>
        <p:nvSpPr>
          <p:cNvPr id="11" name="TextBox 10"/>
          <p:cNvSpPr txBox="1"/>
          <p:nvPr/>
        </p:nvSpPr>
        <p:spPr>
          <a:xfrm>
            <a:off x="457200" y="5943600"/>
            <a:ext cx="11247120" cy="365760"/>
          </a:xfrm>
          <a:prstGeom prst="rect">
            <a:avLst/>
          </a:prstGeom>
          <a:noFill/>
        </p:spPr>
        <p:txBody>
          <a:bodyPr wrap="square">
            <a:spAutoFit/>
          </a:bodyPr>
          <a:lstStyle/>
          <a:p>
            <a:pPr algn="ctr"/>
            <a:r>
              <a:rPr sz="1000" b="0" i="0">
                <a:solidFill>
                  <a:srgbClr val="444444"/>
                </a:solidFill>
              </a:rPr>
              <a:t>github.com/SensationalHaptics  ·  sensationalhaptics.io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